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0" r:id="rId1"/>
  </p:sldMasterIdLst>
  <p:notesMasterIdLst>
    <p:notesMasterId r:id="rId20"/>
  </p:notesMasterIdLst>
  <p:sldIdLst>
    <p:sldId id="256" r:id="rId2"/>
    <p:sldId id="257" r:id="rId3"/>
    <p:sldId id="261" r:id="rId4"/>
    <p:sldId id="337" r:id="rId5"/>
    <p:sldId id="312" r:id="rId6"/>
    <p:sldId id="338" r:id="rId7"/>
    <p:sldId id="339" r:id="rId8"/>
    <p:sldId id="340" r:id="rId9"/>
    <p:sldId id="341" r:id="rId10"/>
    <p:sldId id="342" r:id="rId11"/>
    <p:sldId id="344" r:id="rId12"/>
    <p:sldId id="343" r:id="rId13"/>
    <p:sldId id="345" r:id="rId14"/>
    <p:sldId id="346" r:id="rId15"/>
    <p:sldId id="347" r:id="rId16"/>
    <p:sldId id="348" r:id="rId17"/>
    <p:sldId id="349" r:id="rId18"/>
    <p:sldId id="336" r:id="rId19"/>
  </p:sldIdLst>
  <p:sldSz cx="9144000" cy="5143500" type="screen16x9"/>
  <p:notesSz cx="6858000" cy="9144000"/>
  <p:embeddedFontLst>
    <p:embeddedFont>
      <p:font typeface="Cambria Math" panose="02040503050406030204" pitchFamily="18" charset="0"/>
      <p:regular r:id="rId21"/>
    </p:embeddedFont>
    <p:embeddedFont>
      <p:font typeface="IBM Plex Mono" panose="020B0509050203000203" pitchFamily="49" charset="0"/>
      <p:regular r:id="rId22"/>
      <p:bold r:id="rId23"/>
      <p:italic r:id="rId24"/>
      <p:boldItalic r:id="rId25"/>
    </p:embeddedFont>
    <p:embeddedFont>
      <p:font typeface="IBM Plex Mono Medium" panose="020B0609050203000203" pitchFamily="49"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Poppins" panose="00000500000000000000" pitchFamily="2" charset="0"/>
      <p:regular r:id="rId34"/>
      <p:bold r:id="rId35"/>
      <p:italic r:id="rId36"/>
      <p:boldItalic r:id="rId37"/>
    </p:embeddedFont>
    <p:embeddedFont>
      <p:font typeface="Roboto Condensed Light" panose="02000000000000000000" pitchFamily="2" charset="0"/>
      <p:regular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3ADA68B-9DE3-4D22-A44F-E6205B1A7E7C}">
  <a:tblStyle styleId="{D3ADA68B-9DE3-4D22-A44F-E6205B1A7E7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447"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3"/>
        <p:cNvGrpSpPr/>
        <p:nvPr/>
      </p:nvGrpSpPr>
      <p:grpSpPr>
        <a:xfrm>
          <a:off x="0" y="0"/>
          <a:ext cx="0" cy="0"/>
          <a:chOff x="0" y="0"/>
          <a:chExt cx="0" cy="0"/>
        </a:xfrm>
      </p:grpSpPr>
      <p:sp>
        <p:nvSpPr>
          <p:cNvPr id="1454" name="Google Shape;1454;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5" name="Google Shape;1455;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1"/>
        <p:cNvGrpSpPr/>
        <p:nvPr/>
      </p:nvGrpSpPr>
      <p:grpSpPr>
        <a:xfrm>
          <a:off x="0" y="0"/>
          <a:ext cx="0" cy="0"/>
          <a:chOff x="0" y="0"/>
          <a:chExt cx="0" cy="0"/>
        </a:xfrm>
      </p:grpSpPr>
      <p:sp>
        <p:nvSpPr>
          <p:cNvPr id="1542" name="Google Shape;1542;g24ed99bf1a4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3" name="Google Shape;1543;g24ed99bf1a4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8"/>
        <p:cNvGrpSpPr/>
        <p:nvPr/>
      </p:nvGrpSpPr>
      <p:grpSpPr>
        <a:xfrm>
          <a:off x="0" y="0"/>
          <a:ext cx="0" cy="0"/>
          <a:chOff x="0" y="0"/>
          <a:chExt cx="0" cy="0"/>
        </a:xfrm>
      </p:grpSpPr>
      <p:sp>
        <p:nvSpPr>
          <p:cNvPr id="339" name="Google Shape;339;p7"/>
          <p:cNvSpPr txBox="1">
            <a:spLocks noGrp="1"/>
          </p:cNvSpPr>
          <p:nvPr>
            <p:ph type="subTitle" idx="1"/>
          </p:nvPr>
        </p:nvSpPr>
        <p:spPr>
          <a:xfrm>
            <a:off x="713225" y="1160775"/>
            <a:ext cx="7710900" cy="345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a:endParaRPr/>
          </a:p>
        </p:txBody>
      </p:sp>
      <p:sp>
        <p:nvSpPr>
          <p:cNvPr id="340" name="Google Shape;340;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49" name="Google Shape;349;p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50" name="Google Shape;350;p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l="16960" t="24718" r="7121" b="26177"/>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7"/>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46" name="Google Shape;546;p14"/>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
        <p:nvSpPr>
          <p:cNvPr id="3" name="TextBox 2">
            <a:extLst>
              <a:ext uri="{FF2B5EF4-FFF2-40B4-BE49-F238E27FC236}">
                <a16:creationId xmlns:a16="http://schemas.microsoft.com/office/drawing/2014/main" id="{D70EA278-43EA-DF61-305D-E47AAEC107BD}"/>
              </a:ext>
            </a:extLst>
          </p:cNvPr>
          <p:cNvSpPr txBox="1"/>
          <p:nvPr userDrawn="1">
            <p:extLst>
              <p:ext uri="{1162E1C5-73C7-4A58-AE30-91384D911F3F}">
                <p184:classification xmlns:p184="http://schemas.microsoft.com/office/powerpoint/2018/4/main" val="ftr"/>
              </p:ext>
            </p:extLst>
          </p:nvPr>
        </p:nvSpPr>
        <p:spPr>
          <a:xfrm>
            <a:off x="8232775" y="4927600"/>
            <a:ext cx="876300"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Use Only</a:t>
            </a: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8" r:id="rId4"/>
    <p:sldLayoutId id="2147483660" r:id="rId5"/>
    <p:sldLayoutId id="2147483676" r:id="rId6"/>
    <p:sldLayoutId id="2147483677" r:id="rId7"/>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raphy.com/blog/how-much-does-youtube-pay-per-view/"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9"/>
        <p:cNvGrpSpPr/>
        <p:nvPr/>
      </p:nvGrpSpPr>
      <p:grpSpPr>
        <a:xfrm>
          <a:off x="0" y="0"/>
          <a:ext cx="0" cy="0"/>
          <a:chOff x="0" y="0"/>
          <a:chExt cx="0" cy="0"/>
        </a:xfrm>
      </p:grpSpPr>
      <p:sp>
        <p:nvSpPr>
          <p:cNvPr id="1430" name="Google Shape;1430;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World Bank</a:t>
            </a:r>
            <a:endParaRPr dirty="0"/>
          </a:p>
        </p:txBody>
      </p:sp>
      <p:sp>
        <p:nvSpPr>
          <p:cNvPr id="1431" name="Google Shape;1431;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lvl="0"/>
            <a:r>
              <a:rPr lang="en-US" dirty="0"/>
              <a:t>YouTube Data Extraction and Automation Workshop</a:t>
            </a:r>
            <a:endParaRPr dirty="0">
              <a:solidFill>
                <a:schemeClr val="dk1"/>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36743C62-B7FD-2018-8E23-FC2A6C309352}"/>
              </a:ext>
            </a:extLst>
          </p:cNvPr>
          <p:cNvSpPr txBox="1"/>
          <p:nvPr/>
        </p:nvSpPr>
        <p:spPr>
          <a:xfrm>
            <a:off x="1102611" y="4452842"/>
            <a:ext cx="6783572" cy="307777"/>
          </a:xfrm>
          <a:prstGeom prst="rect">
            <a:avLst/>
          </a:prstGeom>
          <a:noFill/>
        </p:spPr>
        <p:txBody>
          <a:bodyPr wrap="square">
            <a:spAutoFit/>
          </a:bodyPr>
          <a:lstStyle/>
          <a:p>
            <a:r>
              <a:rPr lang="en-US" dirty="0"/>
              <a:t>Day 2 | Advanced Analytics Series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6"/>
        <p:cNvGrpSpPr/>
        <p:nvPr/>
      </p:nvGrpSpPr>
      <p:grpSpPr>
        <a:xfrm>
          <a:off x="0" y="0"/>
          <a:ext cx="0" cy="0"/>
          <a:chOff x="0" y="0"/>
          <a:chExt cx="0" cy="0"/>
        </a:xfrm>
      </p:grpSpPr>
      <p:sp>
        <p:nvSpPr>
          <p:cNvPr id="1457" name="Google Shape;1457;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sp>
        <p:nvSpPr>
          <p:cNvPr id="1458" name="Google Shape;1458;p36"/>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p:txBody>
      </p:sp>
      <p:graphicFrame>
        <p:nvGraphicFramePr>
          <p:cNvPr id="1459" name="Google Shape;1459;p36"/>
          <p:cNvGraphicFramePr/>
          <p:nvPr>
            <p:extLst>
              <p:ext uri="{D42A27DB-BD31-4B8C-83A1-F6EECF244321}">
                <p14:modId xmlns:p14="http://schemas.microsoft.com/office/powerpoint/2010/main" val="2747313077"/>
              </p:ext>
            </p:extLst>
          </p:nvPr>
        </p:nvGraphicFramePr>
        <p:xfrm>
          <a:off x="719999" y="1614825"/>
          <a:ext cx="7703999" cy="2290866"/>
        </p:xfrm>
        <a:graphic>
          <a:graphicData uri="http://schemas.openxmlformats.org/drawingml/2006/table">
            <a:tbl>
              <a:tblPr>
                <a:noFill/>
                <a:tableStyleId>{D3ADA68B-9DE3-4D22-A44F-E6205B1A7E7C}</a:tableStyleId>
              </a:tblPr>
              <a:tblGrid>
                <a:gridCol w="7703999">
                  <a:extLst>
                    <a:ext uri="{9D8B030D-6E8A-4147-A177-3AD203B41FA5}">
                      <a16:colId xmlns:a16="http://schemas.microsoft.com/office/drawing/2014/main" val="20001"/>
                    </a:ext>
                  </a:extLst>
                </a:gridCol>
              </a:tblGrid>
              <a:tr h="379595">
                <a:tc>
                  <a:txBody>
                    <a:bodyPr/>
                    <a:lstStyle/>
                    <a:p>
                      <a:pPr marL="0" lvl="0" indent="0" algn="l" rtl="0">
                        <a:lnSpc>
                          <a:spcPct val="115000"/>
                        </a:lnSpc>
                        <a:spcBef>
                          <a:spcPts val="0"/>
                        </a:spcBef>
                        <a:spcAft>
                          <a:spcPts val="1600"/>
                        </a:spcAft>
                        <a:buNone/>
                      </a:pPr>
                      <a:r>
                        <a:rPr lang="en-US" sz="900" b="1" dirty="0">
                          <a:solidFill>
                            <a:schemeClr val="dk1"/>
                          </a:solidFill>
                          <a:latin typeface="Poppins"/>
                          <a:ea typeface="Poppins"/>
                          <a:cs typeface="Poppins"/>
                          <a:sym typeface="Poppins"/>
                        </a:rPr>
                        <a:t>Setup and obtaining the API key</a:t>
                      </a:r>
                      <a:endParaRPr sz="900" b="1" dirty="0">
                        <a:solidFill>
                          <a:schemeClr val="dk1"/>
                        </a:solidFill>
                        <a:latin typeface="Poppins"/>
                        <a:ea typeface="Poppins"/>
                        <a:cs typeface="Poppins"/>
                        <a:sym typeface="Poppi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4027">
                <a:tc>
                  <a:txBody>
                    <a:bodyPr/>
                    <a:lstStyle/>
                    <a:p>
                      <a:pPr marL="0" marR="0" lvl="0" indent="0" algn="l" rtl="0">
                        <a:lnSpc>
                          <a:spcPct val="115000"/>
                        </a:lnSpc>
                        <a:spcBef>
                          <a:spcPts val="0"/>
                        </a:spcBef>
                        <a:spcAft>
                          <a:spcPts val="1600"/>
                        </a:spcAft>
                        <a:buNone/>
                      </a:pPr>
                      <a:r>
                        <a:rPr lang="en-US" sz="900" b="1" dirty="0">
                          <a:solidFill>
                            <a:schemeClr val="dk1"/>
                          </a:solidFill>
                          <a:latin typeface="Poppins"/>
                          <a:ea typeface="Poppins"/>
                          <a:cs typeface="Poppins"/>
                          <a:sym typeface="Poppins"/>
                        </a:rPr>
                        <a:t>Fetching top channels in Indonesia</a:t>
                      </a:r>
                      <a:endParaRPr sz="900" b="1" dirty="0">
                        <a:solidFill>
                          <a:schemeClr val="dk1"/>
                        </a:solidFill>
                        <a:latin typeface="Poppins"/>
                        <a:ea typeface="Poppins"/>
                        <a:cs typeface="Poppins"/>
                        <a:sym typeface="Poppi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79595">
                <a:tc>
                  <a:txBody>
                    <a:bodyPr/>
                    <a:lstStyle/>
                    <a:p>
                      <a:pPr marL="0" lvl="0" indent="0" algn="l" rtl="0">
                        <a:lnSpc>
                          <a:spcPct val="115000"/>
                        </a:lnSpc>
                        <a:spcBef>
                          <a:spcPts val="0"/>
                        </a:spcBef>
                        <a:spcAft>
                          <a:spcPts val="1600"/>
                        </a:spcAft>
                        <a:buNone/>
                      </a:pPr>
                      <a:r>
                        <a:rPr lang="en-US" sz="900" b="1" dirty="0">
                          <a:solidFill>
                            <a:schemeClr val="dk1"/>
                          </a:solidFill>
                          <a:latin typeface="Poppins"/>
                          <a:ea typeface="Poppins"/>
                          <a:cs typeface="Poppins"/>
                          <a:sym typeface="Poppins"/>
                        </a:rPr>
                        <a:t>Fetching video details using YouTube API v3</a:t>
                      </a:r>
                      <a:endParaRPr sz="900" b="1" dirty="0">
                        <a:solidFill>
                          <a:schemeClr val="dk1"/>
                        </a:solidFill>
                        <a:latin typeface="Poppins"/>
                        <a:ea typeface="Poppins"/>
                        <a:cs typeface="Poppins"/>
                        <a:sym typeface="Poppi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79595">
                <a:tc>
                  <a:txBody>
                    <a:bodyPr/>
                    <a:lstStyle/>
                    <a:p>
                      <a:pPr marL="0" lvl="0" indent="0" algn="l" rtl="0">
                        <a:lnSpc>
                          <a:spcPct val="115000"/>
                        </a:lnSpc>
                        <a:spcBef>
                          <a:spcPts val="0"/>
                        </a:spcBef>
                        <a:spcAft>
                          <a:spcPts val="1600"/>
                        </a:spcAft>
                        <a:buNone/>
                      </a:pPr>
                      <a:r>
                        <a:rPr lang="en-US" sz="900" b="1" dirty="0">
                          <a:solidFill>
                            <a:schemeClr val="dk1"/>
                          </a:solidFill>
                          <a:latin typeface="Poppins"/>
                          <a:ea typeface="Poppins"/>
                          <a:cs typeface="Poppins"/>
                          <a:sym typeface="Poppins"/>
                        </a:rPr>
                        <a:t>Fetching video URLs of a Channel using rendered webpage</a:t>
                      </a:r>
                      <a:endParaRPr sz="900" b="1" dirty="0">
                        <a:solidFill>
                          <a:schemeClr val="dk1"/>
                        </a:solidFill>
                        <a:latin typeface="Poppins"/>
                        <a:ea typeface="Poppins"/>
                        <a:cs typeface="Poppins"/>
                        <a:sym typeface="Poppi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4027">
                <a:tc>
                  <a:txBody>
                    <a:bodyPr/>
                    <a:lstStyle/>
                    <a:p>
                      <a:pPr marL="0" lvl="0" indent="0" algn="l" rtl="0">
                        <a:lnSpc>
                          <a:spcPct val="115000"/>
                        </a:lnSpc>
                        <a:spcBef>
                          <a:spcPts val="0"/>
                        </a:spcBef>
                        <a:spcAft>
                          <a:spcPts val="0"/>
                        </a:spcAft>
                        <a:buNone/>
                      </a:pPr>
                      <a:r>
                        <a:rPr lang="en-US" sz="900" b="1" dirty="0">
                          <a:solidFill>
                            <a:schemeClr val="dk1"/>
                          </a:solidFill>
                          <a:latin typeface="Poppins"/>
                          <a:ea typeface="Poppins"/>
                          <a:cs typeface="Poppins"/>
                          <a:sym typeface="Poppins"/>
                        </a:rPr>
                        <a:t>Fetching Likes, Comments, Views and Description using rendered webpage</a:t>
                      </a:r>
                      <a:endParaRPr sz="900" b="1" dirty="0">
                        <a:solidFill>
                          <a:schemeClr val="dk1"/>
                        </a:solidFill>
                        <a:latin typeface="Poppins"/>
                        <a:ea typeface="Poppins"/>
                        <a:cs typeface="Poppins"/>
                        <a:sym typeface="Poppi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4027">
                <a:tc>
                  <a:txBody>
                    <a:bodyPr/>
                    <a:lstStyle/>
                    <a:p>
                      <a:pPr marL="0" lvl="0" indent="0" algn="l" rtl="0">
                        <a:lnSpc>
                          <a:spcPct val="115000"/>
                        </a:lnSpc>
                        <a:spcBef>
                          <a:spcPts val="0"/>
                        </a:spcBef>
                        <a:spcAft>
                          <a:spcPts val="1600"/>
                        </a:spcAft>
                        <a:buNone/>
                      </a:pPr>
                      <a:r>
                        <a:rPr lang="en-US" sz="900" b="1" dirty="0">
                          <a:solidFill>
                            <a:schemeClr val="dk1"/>
                          </a:solidFill>
                          <a:latin typeface="Poppins"/>
                          <a:ea typeface="Poppins"/>
                          <a:cs typeface="Poppins"/>
                          <a:sym typeface="Poppins"/>
                        </a:rPr>
                        <a:t>Estimation of Revenue</a:t>
                      </a: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lgn="ctr">
                      <a:solidFill>
                        <a:schemeClr val="lt2"/>
                      </a:solidFill>
                      <a:prstDash val="solid"/>
                      <a:round/>
                      <a:headEnd type="none" w="sm" len="sm"/>
                      <a:tailEnd type="none" w="sm" len="sm"/>
                    </a:lnT>
                    <a:lnB w="9525" cap="flat" cmpd="sng" algn="ctr">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4"/>
        <p:cNvGrpSpPr/>
        <p:nvPr/>
      </p:nvGrpSpPr>
      <p:grpSpPr>
        <a:xfrm>
          <a:off x="0" y="0"/>
          <a:ext cx="0" cy="0"/>
          <a:chOff x="0" y="0"/>
          <a:chExt cx="0" cy="0"/>
        </a:xfrm>
      </p:grpSpPr>
      <p:grpSp>
        <p:nvGrpSpPr>
          <p:cNvPr id="1545" name="Google Shape;1545;p40"/>
          <p:cNvGrpSpPr/>
          <p:nvPr/>
        </p:nvGrpSpPr>
        <p:grpSpPr>
          <a:xfrm>
            <a:off x="-2765817" y="-2958610"/>
            <a:ext cx="8164418" cy="6343459"/>
            <a:chOff x="-2613417" y="-2806210"/>
            <a:chExt cx="8164418" cy="6343459"/>
          </a:xfrm>
        </p:grpSpPr>
        <p:grpSp>
          <p:nvGrpSpPr>
            <p:cNvPr id="1546" name="Google Shape;1546;p40"/>
            <p:cNvGrpSpPr/>
            <p:nvPr/>
          </p:nvGrpSpPr>
          <p:grpSpPr>
            <a:xfrm>
              <a:off x="-2613417" y="-2806210"/>
              <a:ext cx="8164418" cy="6343459"/>
              <a:chOff x="-2613417" y="-2806210"/>
              <a:chExt cx="8164418" cy="6343459"/>
            </a:xfrm>
          </p:grpSpPr>
          <p:grpSp>
            <p:nvGrpSpPr>
              <p:cNvPr id="1547" name="Google Shape;1547;p40"/>
              <p:cNvGrpSpPr/>
              <p:nvPr/>
            </p:nvGrpSpPr>
            <p:grpSpPr>
              <a:xfrm>
                <a:off x="-191059" y="95963"/>
                <a:ext cx="1538562" cy="971589"/>
                <a:chOff x="-191059" y="95963"/>
                <a:chExt cx="1538562" cy="971589"/>
              </a:xfrm>
            </p:grpSpPr>
            <p:grpSp>
              <p:nvGrpSpPr>
                <p:cNvPr id="1548" name="Google Shape;1548;p40"/>
                <p:cNvGrpSpPr/>
                <p:nvPr/>
              </p:nvGrpSpPr>
              <p:grpSpPr>
                <a:xfrm>
                  <a:off x="-191059" y="201619"/>
                  <a:ext cx="904284" cy="865933"/>
                  <a:chOff x="2038491" y="-937756"/>
                  <a:chExt cx="904284" cy="865933"/>
                </a:xfrm>
              </p:grpSpPr>
              <p:grpSp>
                <p:nvGrpSpPr>
                  <p:cNvPr id="1549" name="Google Shape;1549;p40"/>
                  <p:cNvGrpSpPr/>
                  <p:nvPr/>
                </p:nvGrpSpPr>
                <p:grpSpPr>
                  <a:xfrm>
                    <a:off x="2096570" y="-863491"/>
                    <a:ext cx="717621" cy="717392"/>
                    <a:chOff x="1483457" y="3953671"/>
                    <a:chExt cx="717621" cy="717392"/>
                  </a:xfrm>
                </p:grpSpPr>
                <p:sp>
                  <p:nvSpPr>
                    <p:cNvPr id="1550" name="Google Shape;1550;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5" name="Google Shape;1555;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6" name="Google Shape;1556;p40"/>
                <p:cNvGrpSpPr/>
                <p:nvPr/>
              </p:nvGrpSpPr>
              <p:grpSpPr>
                <a:xfrm>
                  <a:off x="584533" y="95963"/>
                  <a:ext cx="473483" cy="453403"/>
                  <a:chOff x="2038491" y="-937756"/>
                  <a:chExt cx="904284" cy="865933"/>
                </a:xfrm>
              </p:grpSpPr>
              <p:grpSp>
                <p:nvGrpSpPr>
                  <p:cNvPr id="1557" name="Google Shape;1557;p40"/>
                  <p:cNvGrpSpPr/>
                  <p:nvPr/>
                </p:nvGrpSpPr>
                <p:grpSpPr>
                  <a:xfrm>
                    <a:off x="2096570" y="-863491"/>
                    <a:ext cx="717621" cy="717392"/>
                    <a:chOff x="1483457" y="3953671"/>
                    <a:chExt cx="717621" cy="717392"/>
                  </a:xfrm>
                </p:grpSpPr>
                <p:sp>
                  <p:nvSpPr>
                    <p:cNvPr id="1558" name="Google Shape;1558;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3" name="Google Shape;1563;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4" name="Google Shape;1564;p40"/>
                <p:cNvGrpSpPr/>
                <p:nvPr/>
              </p:nvGrpSpPr>
              <p:grpSpPr>
                <a:xfrm>
                  <a:off x="530445" y="481913"/>
                  <a:ext cx="473483" cy="453403"/>
                  <a:chOff x="2038491" y="-937756"/>
                  <a:chExt cx="904284" cy="865933"/>
                </a:xfrm>
              </p:grpSpPr>
              <p:grpSp>
                <p:nvGrpSpPr>
                  <p:cNvPr id="1565" name="Google Shape;1565;p40"/>
                  <p:cNvGrpSpPr/>
                  <p:nvPr/>
                </p:nvGrpSpPr>
                <p:grpSpPr>
                  <a:xfrm>
                    <a:off x="2096570" y="-863491"/>
                    <a:ext cx="717621" cy="717392"/>
                    <a:chOff x="1483457" y="3953671"/>
                    <a:chExt cx="717621" cy="717392"/>
                  </a:xfrm>
                </p:grpSpPr>
                <p:sp>
                  <p:nvSpPr>
                    <p:cNvPr id="1566" name="Google Shape;1566;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1" name="Google Shape;1571;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2" name="Google Shape;1572;p40"/>
                <p:cNvGrpSpPr/>
                <p:nvPr/>
              </p:nvGrpSpPr>
              <p:grpSpPr>
                <a:xfrm>
                  <a:off x="874020" y="312788"/>
                  <a:ext cx="473483" cy="453403"/>
                  <a:chOff x="2038491" y="-937756"/>
                  <a:chExt cx="904284" cy="865933"/>
                </a:xfrm>
              </p:grpSpPr>
              <p:grpSp>
                <p:nvGrpSpPr>
                  <p:cNvPr id="1573" name="Google Shape;1573;p40"/>
                  <p:cNvGrpSpPr/>
                  <p:nvPr/>
                </p:nvGrpSpPr>
                <p:grpSpPr>
                  <a:xfrm>
                    <a:off x="2096570" y="-863491"/>
                    <a:ext cx="717621" cy="717392"/>
                    <a:chOff x="1483457" y="3953671"/>
                    <a:chExt cx="717621" cy="717392"/>
                  </a:xfrm>
                </p:grpSpPr>
                <p:sp>
                  <p:nvSpPr>
                    <p:cNvPr id="1574" name="Google Shape;1574;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9" name="Google Shape;1579;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0" name="Google Shape;1580;p40"/>
              <p:cNvGrpSpPr/>
              <p:nvPr/>
            </p:nvGrpSpPr>
            <p:grpSpPr>
              <a:xfrm rot="-7479050">
                <a:off x="-2051246" y="-1642948"/>
                <a:ext cx="4889863" cy="3931229"/>
                <a:chOff x="7103825" y="-713112"/>
                <a:chExt cx="3785226" cy="3043150"/>
              </a:xfrm>
            </p:grpSpPr>
            <p:sp>
              <p:nvSpPr>
                <p:cNvPr id="1581" name="Google Shape;1581;p40"/>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2" name="Google Shape;1582;p40"/>
                <p:cNvPicPr preferRelativeResize="0"/>
                <p:nvPr/>
              </p:nvPicPr>
              <p:blipFill rotWithShape="1">
                <a:blip r:embed="rId3">
                  <a:alphaModFix/>
                </a:blip>
                <a:srcRect t="17657" b="17663"/>
                <a:stretch/>
              </p:blipFill>
              <p:spPr>
                <a:xfrm>
                  <a:off x="7103825" y="-713112"/>
                  <a:ext cx="3785226" cy="2888974"/>
                </a:xfrm>
                <a:prstGeom prst="rect">
                  <a:avLst/>
                </a:prstGeom>
                <a:noFill/>
                <a:ln>
                  <a:noFill/>
                </a:ln>
              </p:spPr>
            </p:pic>
          </p:grpSp>
          <p:grpSp>
            <p:nvGrpSpPr>
              <p:cNvPr id="1583" name="Google Shape;1583;p40"/>
              <p:cNvGrpSpPr/>
              <p:nvPr/>
            </p:nvGrpSpPr>
            <p:grpSpPr>
              <a:xfrm>
                <a:off x="-640220" y="-2653973"/>
                <a:ext cx="6191222" cy="6191222"/>
                <a:chOff x="-640220" y="-2502423"/>
                <a:chExt cx="6191222" cy="6191222"/>
              </a:xfrm>
            </p:grpSpPr>
            <p:sp>
              <p:nvSpPr>
                <p:cNvPr id="1584" name="Google Shape;1584;p40"/>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0"/>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6" name="Google Shape;1586;p40"/>
            <p:cNvGrpSpPr/>
            <p:nvPr/>
          </p:nvGrpSpPr>
          <p:grpSpPr>
            <a:xfrm>
              <a:off x="-12" y="-195650"/>
              <a:ext cx="439200" cy="439100"/>
              <a:chOff x="1101075" y="2142375"/>
              <a:chExt cx="439200" cy="439100"/>
            </a:xfrm>
          </p:grpSpPr>
          <p:sp>
            <p:nvSpPr>
              <p:cNvPr id="1587" name="Google Shape;1587;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9" name="Google Shape;1589;p40"/>
          <p:cNvGrpSpPr/>
          <p:nvPr/>
        </p:nvGrpSpPr>
        <p:grpSpPr>
          <a:xfrm>
            <a:off x="4605344" y="2412775"/>
            <a:ext cx="5765856" cy="4103650"/>
            <a:chOff x="4452944" y="2184175"/>
            <a:chExt cx="5765856" cy="4103650"/>
          </a:xfrm>
        </p:grpSpPr>
        <p:pic>
          <p:nvPicPr>
            <p:cNvPr id="1590" name="Google Shape;1590;p40"/>
            <p:cNvPicPr preferRelativeResize="0"/>
            <p:nvPr/>
          </p:nvPicPr>
          <p:blipFill rotWithShape="1">
            <a:blip r:embed="rId4">
              <a:alphaModFix/>
            </a:blip>
            <a:srcRect l="16960" t="24718" r="7121" b="26177"/>
            <a:stretch/>
          </p:blipFill>
          <p:spPr>
            <a:xfrm rot="-5400000" flipH="1">
              <a:off x="6600975" y="2670000"/>
              <a:ext cx="4103650" cy="3132000"/>
            </a:xfrm>
            <a:prstGeom prst="rect">
              <a:avLst/>
            </a:prstGeom>
            <a:noFill/>
            <a:ln>
              <a:noFill/>
            </a:ln>
          </p:spPr>
        </p:pic>
        <p:grpSp>
          <p:nvGrpSpPr>
            <p:cNvPr id="1591" name="Google Shape;1591;p40"/>
            <p:cNvGrpSpPr/>
            <p:nvPr/>
          </p:nvGrpSpPr>
          <p:grpSpPr>
            <a:xfrm rot="-5400000" flipH="1">
              <a:off x="8074852" y="4089881"/>
              <a:ext cx="1478405" cy="1186772"/>
              <a:chOff x="7945225" y="4302000"/>
              <a:chExt cx="904666" cy="726121"/>
            </a:xfrm>
          </p:grpSpPr>
          <p:sp>
            <p:nvSpPr>
              <p:cNvPr id="1592" name="Google Shape;1592;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5" name="Google Shape;1595;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6" name="Google Shape;1596;p40"/>
            <p:cNvGrpSpPr/>
            <p:nvPr/>
          </p:nvGrpSpPr>
          <p:grpSpPr>
            <a:xfrm rot="-5400000" flipH="1">
              <a:off x="7140078" y="3883230"/>
              <a:ext cx="134004" cy="134004"/>
              <a:chOff x="8356813" y="1074288"/>
              <a:chExt cx="351900" cy="351900"/>
            </a:xfrm>
          </p:grpSpPr>
          <p:sp>
            <p:nvSpPr>
              <p:cNvPr id="1597" name="Google Shape;1597;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40"/>
            <p:cNvGrpSpPr/>
            <p:nvPr/>
          </p:nvGrpSpPr>
          <p:grpSpPr>
            <a:xfrm rot="-5400000" flipH="1">
              <a:off x="6766253" y="3499155"/>
              <a:ext cx="134004" cy="134004"/>
              <a:chOff x="8356813" y="1074288"/>
              <a:chExt cx="351900" cy="351900"/>
            </a:xfrm>
          </p:grpSpPr>
          <p:sp>
            <p:nvSpPr>
              <p:cNvPr id="1600" name="Google Shape;160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2" name="Google Shape;1602;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4" name="Google Shape;1604;p40"/>
            <p:cNvGrpSpPr/>
            <p:nvPr/>
          </p:nvGrpSpPr>
          <p:grpSpPr>
            <a:xfrm rot="-5400000" flipH="1">
              <a:off x="7404606" y="3451356"/>
              <a:ext cx="582050" cy="582425"/>
              <a:chOff x="959750" y="3039275"/>
              <a:chExt cx="582050" cy="582425"/>
            </a:xfrm>
          </p:grpSpPr>
          <p:sp>
            <p:nvSpPr>
              <p:cNvPr id="1605" name="Google Shape;1605;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2" name="Google Shape;1612;p40"/>
            <p:cNvGrpSpPr/>
            <p:nvPr/>
          </p:nvGrpSpPr>
          <p:grpSpPr>
            <a:xfrm rot="-5400000" flipH="1">
              <a:off x="7237650" y="4201057"/>
              <a:ext cx="699928" cy="1651024"/>
              <a:chOff x="8337812" y="3492483"/>
              <a:chExt cx="699928" cy="1651024"/>
            </a:xfrm>
          </p:grpSpPr>
          <p:sp>
            <p:nvSpPr>
              <p:cNvPr id="1613" name="Google Shape;1613;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6" name="Google Shape;1616;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8" name="Google Shape;1618;p40"/>
            <p:cNvGrpSpPr/>
            <p:nvPr/>
          </p:nvGrpSpPr>
          <p:grpSpPr>
            <a:xfrm rot="-5400000" flipH="1">
              <a:off x="5819578" y="4727817"/>
              <a:ext cx="134004" cy="134004"/>
              <a:chOff x="8356813" y="1074288"/>
              <a:chExt cx="351900" cy="351900"/>
            </a:xfrm>
          </p:grpSpPr>
          <p:sp>
            <p:nvSpPr>
              <p:cNvPr id="1619" name="Google Shape;1619;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21" name="Google Shape;1621;p40"/>
          <p:cNvSpPr txBox="1">
            <a:spLocks noGrp="1"/>
          </p:cNvSpPr>
          <p:nvPr>
            <p:ph type="title"/>
          </p:nvPr>
        </p:nvSpPr>
        <p:spPr>
          <a:xfrm>
            <a:off x="704721" y="1017906"/>
            <a:ext cx="66912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WARNING!</a:t>
            </a:r>
            <a:endParaRPr dirty="0"/>
          </a:p>
        </p:txBody>
      </p:sp>
      <p:sp>
        <p:nvSpPr>
          <p:cNvPr id="1622" name="Google Shape;1622;p40"/>
          <p:cNvSpPr txBox="1">
            <a:spLocks noGrp="1"/>
          </p:cNvSpPr>
          <p:nvPr>
            <p:ph type="subTitle" idx="1"/>
          </p:nvPr>
        </p:nvSpPr>
        <p:spPr>
          <a:xfrm>
            <a:off x="713225" y="1837376"/>
            <a:ext cx="6691200" cy="147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a:t>
            </a:r>
            <a:r>
              <a:rPr lang="en-US" dirty="0"/>
              <a:t>YouTube’s terms prohibit commercial scraping, so this is purely for educational and capacity building purposes</a:t>
            </a:r>
            <a:r>
              <a:rPr lang="en" dirty="0"/>
              <a:t>”</a:t>
            </a:r>
            <a:endParaRPr dirty="0"/>
          </a:p>
        </p:txBody>
      </p:sp>
      <p:grpSp>
        <p:nvGrpSpPr>
          <p:cNvPr id="1623" name="Google Shape;1623;p40"/>
          <p:cNvGrpSpPr/>
          <p:nvPr/>
        </p:nvGrpSpPr>
        <p:grpSpPr>
          <a:xfrm rot="-5400000" flipH="1">
            <a:off x="8904403" y="2929792"/>
            <a:ext cx="134004" cy="134004"/>
            <a:chOff x="8356813" y="1074288"/>
            <a:chExt cx="351900" cy="351900"/>
          </a:xfrm>
        </p:grpSpPr>
        <p:sp>
          <p:nvSpPr>
            <p:cNvPr id="1624" name="Google Shape;1624;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6" name="Google Shape;1626;p40"/>
          <p:cNvGrpSpPr/>
          <p:nvPr/>
        </p:nvGrpSpPr>
        <p:grpSpPr>
          <a:xfrm>
            <a:off x="784202" y="1486330"/>
            <a:ext cx="4558967" cy="134100"/>
            <a:chOff x="796100" y="3019701"/>
            <a:chExt cx="4558967" cy="134100"/>
          </a:xfrm>
        </p:grpSpPr>
        <p:sp>
          <p:nvSpPr>
            <p:cNvPr id="1627" name="Google Shape;1627;p40"/>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28" name="Google Shape;1628;p40"/>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629" name="Google Shape;1629;p40"/>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B6E9-F24C-0D2F-84B4-C9411B6A4627}"/>
              </a:ext>
            </a:extLst>
          </p:cNvPr>
          <p:cNvSpPr>
            <a:spLocks noGrp="1"/>
          </p:cNvSpPr>
          <p:nvPr>
            <p:ph type="title"/>
          </p:nvPr>
        </p:nvSpPr>
        <p:spPr/>
        <p:txBody>
          <a:bodyPr/>
          <a:lstStyle/>
          <a:p>
            <a:r>
              <a:rPr lang="en-US" dirty="0"/>
              <a:t>GitHub link</a:t>
            </a:r>
          </a:p>
        </p:txBody>
      </p:sp>
      <p:sp>
        <p:nvSpPr>
          <p:cNvPr id="3" name="Subtitle 2">
            <a:extLst>
              <a:ext uri="{FF2B5EF4-FFF2-40B4-BE49-F238E27FC236}">
                <a16:creationId xmlns:a16="http://schemas.microsoft.com/office/drawing/2014/main" id="{D39C3640-0354-7F3C-3ECB-96257BD8B0C2}"/>
              </a:ext>
            </a:extLst>
          </p:cNvPr>
          <p:cNvSpPr>
            <a:spLocks noGrp="1"/>
          </p:cNvSpPr>
          <p:nvPr>
            <p:ph type="subTitle" idx="1"/>
          </p:nvPr>
        </p:nvSpPr>
        <p:spPr/>
        <p:txBody>
          <a:bodyPr/>
          <a:lstStyle/>
          <a:p>
            <a:r>
              <a:rPr lang="en-US" sz="2000" dirty="0"/>
              <a:t>https://github.com/arindammisra/IndonesiaPoC</a:t>
            </a:r>
          </a:p>
        </p:txBody>
      </p:sp>
    </p:spTree>
    <p:extLst>
      <p:ext uri="{BB962C8B-B14F-4D97-AF65-F5344CB8AC3E}">
        <p14:creationId xmlns:p14="http://schemas.microsoft.com/office/powerpoint/2010/main" val="2286316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B259A1-18B6-8168-2EED-2DB47F66A9DC}"/>
              </a:ext>
            </a:extLst>
          </p:cNvPr>
          <p:cNvSpPr>
            <a:spLocks noGrp="1"/>
          </p:cNvSpPr>
          <p:nvPr>
            <p:ph type="subTitle" idx="1"/>
          </p:nvPr>
        </p:nvSpPr>
        <p:spPr/>
        <p:txBody>
          <a:bodyPr/>
          <a:lstStyle/>
          <a:p>
            <a:pPr>
              <a:buFont typeface="Arial" panose="020B0604020202020204" pitchFamily="34" charset="0"/>
              <a:buChar char="•"/>
            </a:pPr>
            <a:r>
              <a:rPr lang="en-US" dirty="0"/>
              <a:t>Python 3.x</a:t>
            </a:r>
          </a:p>
          <a:p>
            <a:pPr>
              <a:buFont typeface="Arial" panose="020B0604020202020204" pitchFamily="34" charset="0"/>
              <a:buChar char="•"/>
            </a:pPr>
            <a:r>
              <a:rPr lang="en-US" dirty="0"/>
              <a:t>Selenium + </a:t>
            </a:r>
            <a:r>
              <a:rPr lang="en-US" dirty="0" err="1"/>
              <a:t>ChromeDriver</a:t>
            </a:r>
            <a:endParaRPr lang="en-US" dirty="0"/>
          </a:p>
          <a:p>
            <a:pPr>
              <a:buFont typeface="Arial" panose="020B0604020202020204" pitchFamily="34" charset="0"/>
              <a:buChar char="•"/>
            </a:pPr>
            <a:r>
              <a:rPr lang="en-US" dirty="0"/>
              <a:t>Requests + Regex</a:t>
            </a:r>
          </a:p>
          <a:p>
            <a:pPr>
              <a:buFont typeface="Arial" panose="020B0604020202020204" pitchFamily="34" charset="0"/>
              <a:buChar char="•"/>
            </a:pPr>
            <a:r>
              <a:rPr lang="en-US" dirty="0"/>
              <a:t>Pandas / NumPy</a:t>
            </a:r>
          </a:p>
          <a:p>
            <a:pPr>
              <a:buFont typeface="Arial" panose="020B0604020202020204" pitchFamily="34" charset="0"/>
              <a:buChar char="•"/>
            </a:pPr>
            <a:r>
              <a:rPr lang="en-US" dirty="0" err="1"/>
              <a:t>Webdriver</a:t>
            </a:r>
            <a:r>
              <a:rPr lang="en-US" dirty="0"/>
              <a:t>-manager for auto driver setup</a:t>
            </a:r>
          </a:p>
          <a:p>
            <a:pPr>
              <a:buFont typeface="Arial" panose="020B0604020202020204" pitchFamily="34" charset="0"/>
              <a:buChar char="•"/>
            </a:pPr>
            <a:r>
              <a:rPr lang="en-US" dirty="0"/>
              <a:t>PowerShell / Terminal for execution:</a:t>
            </a:r>
          </a:p>
          <a:p>
            <a:pPr>
              <a:buFont typeface="Arial" panose="020B0604020202020204" pitchFamily="34" charset="0"/>
              <a:buChar char="•"/>
            </a:pPr>
            <a:endParaRPr lang="en-US" dirty="0"/>
          </a:p>
          <a:p>
            <a:pPr>
              <a:buFont typeface="Arial" panose="020B0604020202020204" pitchFamily="34" charset="0"/>
              <a:buChar char="•"/>
            </a:pPr>
            <a:r>
              <a:rPr lang="en-US" dirty="0"/>
              <a:t>Use of Selenium instead of requests to avoid blocking and capturing rendered content</a:t>
            </a:r>
          </a:p>
          <a:p>
            <a:pPr>
              <a:buFont typeface="Arial" panose="020B0604020202020204" pitchFamily="34" charset="0"/>
              <a:buChar char="•"/>
            </a:pPr>
            <a:endParaRPr lang="en-US" dirty="0"/>
          </a:p>
          <a:p>
            <a:pPr marL="139700" indent="0">
              <a:buNone/>
            </a:pPr>
            <a:r>
              <a:rPr lang="en-US" dirty="0">
                <a:solidFill>
                  <a:schemeClr val="dk2"/>
                </a:solidFill>
                <a:latin typeface="IBM Plex Mono Medium"/>
                <a:ea typeface="IBM Plex Mono Medium"/>
                <a:cs typeface="IBM Plex Mono Medium"/>
                <a:sym typeface="IBM Plex Mono Medium"/>
              </a:rPr>
              <a:t>pip install selenium pandas </a:t>
            </a:r>
            <a:r>
              <a:rPr lang="en-US" dirty="0" err="1">
                <a:solidFill>
                  <a:schemeClr val="dk2"/>
                </a:solidFill>
                <a:latin typeface="IBM Plex Mono Medium"/>
                <a:ea typeface="IBM Plex Mono Medium"/>
                <a:cs typeface="IBM Plex Mono Medium"/>
                <a:sym typeface="IBM Plex Mono Medium"/>
              </a:rPr>
              <a:t>numpy</a:t>
            </a:r>
            <a:r>
              <a:rPr lang="en-US" dirty="0">
                <a:solidFill>
                  <a:schemeClr val="dk2"/>
                </a:solidFill>
                <a:latin typeface="IBM Plex Mono Medium"/>
                <a:ea typeface="IBM Plex Mono Medium"/>
                <a:cs typeface="IBM Plex Mono Medium"/>
                <a:sym typeface="IBM Plex Mono Medium"/>
              </a:rPr>
              <a:t> requests </a:t>
            </a:r>
            <a:r>
              <a:rPr lang="en-US" dirty="0" err="1">
                <a:solidFill>
                  <a:schemeClr val="dk2"/>
                </a:solidFill>
                <a:latin typeface="IBM Plex Mono Medium"/>
                <a:ea typeface="IBM Plex Mono Medium"/>
                <a:cs typeface="IBM Plex Mono Medium"/>
                <a:sym typeface="IBM Plex Mono Medium"/>
              </a:rPr>
              <a:t>webdriver</a:t>
            </a:r>
            <a:r>
              <a:rPr lang="en-US" dirty="0">
                <a:solidFill>
                  <a:schemeClr val="dk2"/>
                </a:solidFill>
                <a:latin typeface="IBM Plex Mono Medium"/>
                <a:ea typeface="IBM Plex Mono Medium"/>
                <a:cs typeface="IBM Plex Mono Medium"/>
                <a:sym typeface="IBM Plex Mono Medium"/>
              </a:rPr>
              <a:t>-manager</a:t>
            </a:r>
          </a:p>
          <a:p>
            <a:pPr>
              <a:buFont typeface="Arial" panose="020B0604020202020204" pitchFamily="34" charset="0"/>
              <a:buChar char="•"/>
            </a:pPr>
            <a:endParaRPr lang="en-US" dirty="0"/>
          </a:p>
          <a:p>
            <a:endParaRPr lang="en-US" dirty="0"/>
          </a:p>
          <a:p>
            <a:pPr marL="139700" indent="0">
              <a:buNone/>
            </a:pPr>
            <a:endParaRPr lang="en-US" dirty="0"/>
          </a:p>
        </p:txBody>
      </p:sp>
      <p:sp>
        <p:nvSpPr>
          <p:cNvPr id="3" name="Title 2">
            <a:extLst>
              <a:ext uri="{FF2B5EF4-FFF2-40B4-BE49-F238E27FC236}">
                <a16:creationId xmlns:a16="http://schemas.microsoft.com/office/drawing/2014/main" id="{AF266DF6-251C-8D36-8095-80589EB123F4}"/>
              </a:ext>
            </a:extLst>
          </p:cNvPr>
          <p:cNvSpPr>
            <a:spLocks noGrp="1"/>
          </p:cNvSpPr>
          <p:nvPr>
            <p:ph type="title"/>
          </p:nvPr>
        </p:nvSpPr>
        <p:spPr/>
        <p:txBody>
          <a:bodyPr/>
          <a:lstStyle/>
          <a:p>
            <a:r>
              <a:rPr lang="en-US" dirty="0"/>
              <a:t>Tools and Environment</a:t>
            </a:r>
          </a:p>
        </p:txBody>
      </p:sp>
    </p:spTree>
    <p:extLst>
      <p:ext uri="{BB962C8B-B14F-4D97-AF65-F5344CB8AC3E}">
        <p14:creationId xmlns:p14="http://schemas.microsoft.com/office/powerpoint/2010/main" val="3129135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F91345B-3E7A-EF1B-8B18-0A5FC8FCFAA8}"/>
              </a:ext>
            </a:extLst>
          </p:cNvPr>
          <p:cNvSpPr>
            <a:spLocks noGrp="1"/>
          </p:cNvSpPr>
          <p:nvPr>
            <p:ph type="subTitle" idx="1"/>
          </p:nvPr>
        </p:nvSpPr>
        <p:spPr/>
        <p:txBody>
          <a:bodyPr/>
          <a:lstStyle/>
          <a:p>
            <a:r>
              <a:rPr lang="en-US" b="1" dirty="0"/>
              <a:t>Log in</a:t>
            </a:r>
            <a:r>
              <a:rPr lang="en-US" dirty="0"/>
              <a:t> to the Google Cloud Console with your Google Account.</a:t>
            </a:r>
          </a:p>
          <a:p>
            <a:r>
              <a:rPr lang="en-US" b="1" dirty="0"/>
              <a:t>Create a New Project</a:t>
            </a:r>
            <a:r>
              <a:rPr lang="en-US" dirty="0"/>
              <a:t> (recommended to avoid conflicts) by clicking the project dropdown at the top and selecting "New Project".</a:t>
            </a:r>
          </a:p>
          <a:p>
            <a:r>
              <a:rPr lang="en-US" b="1" dirty="0"/>
              <a:t>Enable the YouTube Data API v3</a:t>
            </a:r>
            <a:r>
              <a:rPr lang="en-US" dirty="0"/>
              <a:t> for your project:</a:t>
            </a:r>
          </a:p>
          <a:p>
            <a:pPr lvl="1"/>
            <a:r>
              <a:rPr lang="en-US" dirty="0"/>
              <a:t>Navigate to the </a:t>
            </a:r>
            <a:r>
              <a:rPr lang="en-US" b="1" dirty="0"/>
              <a:t>APIs &amp; Services &gt; Library</a:t>
            </a:r>
            <a:r>
              <a:rPr lang="en-US" dirty="0"/>
              <a:t> from the navigation menu</a:t>
            </a:r>
          </a:p>
          <a:p>
            <a:pPr lvl="1"/>
            <a:r>
              <a:rPr lang="en-US" dirty="0"/>
              <a:t>Search for "</a:t>
            </a:r>
            <a:r>
              <a:rPr lang="en-US" b="1" dirty="0"/>
              <a:t>YouTube Data API v3</a:t>
            </a:r>
            <a:r>
              <a:rPr lang="en-US" dirty="0"/>
              <a:t>" and select it from the results.</a:t>
            </a:r>
          </a:p>
          <a:p>
            <a:pPr lvl="1"/>
            <a:r>
              <a:rPr lang="en-US" dirty="0"/>
              <a:t>Click the </a:t>
            </a:r>
            <a:r>
              <a:rPr lang="en-US" b="1" dirty="0"/>
              <a:t>Enable</a:t>
            </a:r>
            <a:r>
              <a:rPr lang="en-US" dirty="0"/>
              <a:t> button</a:t>
            </a:r>
          </a:p>
          <a:p>
            <a:r>
              <a:rPr lang="en-US" b="1" dirty="0"/>
              <a:t>Create Credentials</a:t>
            </a:r>
            <a:r>
              <a:rPr lang="en-US" dirty="0"/>
              <a:t> to generate the key</a:t>
            </a:r>
          </a:p>
          <a:p>
            <a:pPr lvl="1"/>
            <a:r>
              <a:rPr lang="en-US" dirty="0"/>
              <a:t>Go to </a:t>
            </a:r>
            <a:r>
              <a:rPr lang="en-US" b="1" dirty="0"/>
              <a:t>APIs &amp; Services &gt; Credentials</a:t>
            </a:r>
            <a:r>
              <a:rPr lang="en-US" dirty="0"/>
              <a:t> on the left menu</a:t>
            </a:r>
          </a:p>
          <a:p>
            <a:pPr lvl="1"/>
            <a:r>
              <a:rPr lang="en-US" dirty="0"/>
              <a:t>Click </a:t>
            </a:r>
            <a:r>
              <a:rPr lang="en-US" b="1" dirty="0"/>
              <a:t>+ Create Credentials</a:t>
            </a:r>
            <a:r>
              <a:rPr lang="en-US" dirty="0"/>
              <a:t> and select </a:t>
            </a:r>
            <a:r>
              <a:rPr lang="en-US" b="1" dirty="0"/>
              <a:t>API key</a:t>
            </a:r>
            <a:r>
              <a:rPr lang="en-US" dirty="0"/>
              <a:t> from the dropdown menu</a:t>
            </a:r>
          </a:p>
          <a:p>
            <a:r>
              <a:rPr lang="en-US" b="1" dirty="0"/>
              <a:t>Copy the Generated Key</a:t>
            </a:r>
            <a:r>
              <a:rPr lang="en-US" dirty="0"/>
              <a:t>. An API key will appear in a pop-up window. Copy this key and store it securely as this will be used in the Python codes</a:t>
            </a:r>
            <a:br>
              <a:rPr lang="en-US" sz="2800" dirty="0"/>
            </a:br>
            <a:endParaRPr lang="en-US" sz="2800" dirty="0"/>
          </a:p>
        </p:txBody>
      </p:sp>
      <p:sp>
        <p:nvSpPr>
          <p:cNvPr id="3" name="Title 2">
            <a:extLst>
              <a:ext uri="{FF2B5EF4-FFF2-40B4-BE49-F238E27FC236}">
                <a16:creationId xmlns:a16="http://schemas.microsoft.com/office/drawing/2014/main" id="{51AE2221-6632-2650-8AB0-31B183EC3F3C}"/>
              </a:ext>
            </a:extLst>
          </p:cNvPr>
          <p:cNvSpPr>
            <a:spLocks noGrp="1"/>
          </p:cNvSpPr>
          <p:nvPr>
            <p:ph type="title"/>
          </p:nvPr>
        </p:nvSpPr>
        <p:spPr/>
        <p:txBody>
          <a:bodyPr/>
          <a:lstStyle/>
          <a:p>
            <a:r>
              <a:rPr lang="en-US" dirty="0"/>
              <a:t>Obtaining YouTube API key</a:t>
            </a:r>
          </a:p>
        </p:txBody>
      </p:sp>
    </p:spTree>
    <p:extLst>
      <p:ext uri="{BB962C8B-B14F-4D97-AF65-F5344CB8AC3E}">
        <p14:creationId xmlns:p14="http://schemas.microsoft.com/office/powerpoint/2010/main" val="2839653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2E283C-2A32-D84D-0047-0421F49A38F4}"/>
              </a:ext>
            </a:extLst>
          </p:cNvPr>
          <p:cNvSpPr>
            <a:spLocks noGrp="1"/>
          </p:cNvSpPr>
          <p:nvPr>
            <p:ph type="subTitle" idx="1"/>
          </p:nvPr>
        </p:nvSpPr>
        <p:spPr/>
        <p:txBody>
          <a:bodyPr/>
          <a:lstStyle/>
          <a:p>
            <a:pPr>
              <a:buFont typeface="Arial" panose="020B0604020202020204" pitchFamily="34" charset="0"/>
              <a:buChar char="•"/>
            </a:pPr>
            <a:r>
              <a:rPr lang="en-US" dirty="0"/>
              <a:t>Official API by Google for accessing public YouTube data.</a:t>
            </a:r>
          </a:p>
          <a:p>
            <a:pPr>
              <a:buFont typeface="Arial" panose="020B0604020202020204" pitchFamily="34" charset="0"/>
              <a:buChar char="•"/>
            </a:pPr>
            <a:r>
              <a:rPr lang="en-US" dirty="0"/>
              <a:t>Provides endpoints for channels, videos, playlists, search results, etc.</a:t>
            </a:r>
          </a:p>
          <a:p>
            <a:pPr>
              <a:buFont typeface="Arial" panose="020B0604020202020204" pitchFamily="34" charset="0"/>
              <a:buChar char="•"/>
            </a:pPr>
            <a:r>
              <a:rPr lang="en-US" dirty="0"/>
              <a:t>Uses REST over HTTPS and returns JSON data.</a:t>
            </a:r>
          </a:p>
          <a:p>
            <a:pPr>
              <a:buFont typeface="Arial" panose="020B0604020202020204" pitchFamily="34" charset="0"/>
              <a:buChar char="•"/>
            </a:pPr>
            <a:r>
              <a:rPr lang="en-US" dirty="0"/>
              <a:t>Capabilities:</a:t>
            </a:r>
          </a:p>
          <a:p>
            <a:pPr lvl="1">
              <a:buFont typeface="Arial" panose="020B0604020202020204" pitchFamily="34" charset="0"/>
              <a:buChar char="•"/>
            </a:pPr>
            <a:r>
              <a:rPr lang="en-US" dirty="0"/>
              <a:t>Fetch channel information and analytics.</a:t>
            </a:r>
          </a:p>
          <a:p>
            <a:pPr lvl="1">
              <a:buFont typeface="Arial" panose="020B0604020202020204" pitchFamily="34" charset="0"/>
              <a:buChar char="•"/>
            </a:pPr>
            <a:r>
              <a:rPr lang="fr-FR" dirty="0" err="1"/>
              <a:t>Retrieve</a:t>
            </a:r>
            <a:r>
              <a:rPr lang="fr-FR" dirty="0"/>
              <a:t> </a:t>
            </a:r>
            <a:r>
              <a:rPr lang="fr-FR" dirty="0" err="1"/>
              <a:t>video</a:t>
            </a:r>
            <a:r>
              <a:rPr lang="fr-FR" dirty="0"/>
              <a:t> </a:t>
            </a:r>
            <a:r>
              <a:rPr lang="fr-FR" dirty="0" err="1"/>
              <a:t>details</a:t>
            </a:r>
            <a:r>
              <a:rPr lang="fr-FR" dirty="0"/>
              <a:t>, likes, </a:t>
            </a:r>
            <a:r>
              <a:rPr lang="fr-FR" dirty="0" err="1"/>
              <a:t>comments</a:t>
            </a:r>
            <a:r>
              <a:rPr lang="fr-FR" dirty="0"/>
              <a:t>, etc.</a:t>
            </a:r>
          </a:p>
          <a:p>
            <a:pPr lvl="1">
              <a:buFont typeface="Arial" panose="020B0604020202020204" pitchFamily="34" charset="0"/>
              <a:buChar char="•"/>
            </a:pPr>
            <a:r>
              <a:rPr lang="en-US" dirty="0"/>
              <a:t>Search for videos or channels.</a:t>
            </a:r>
          </a:p>
          <a:p>
            <a:pPr lvl="1">
              <a:buFont typeface="Arial" panose="020B0604020202020204" pitchFamily="34" charset="0"/>
              <a:buChar char="•"/>
            </a:pPr>
            <a:r>
              <a:rPr lang="en-US" dirty="0"/>
              <a:t>Analyze engagement trends.</a:t>
            </a:r>
          </a:p>
          <a:p>
            <a:pPr>
              <a:buFont typeface="Arial" panose="020B0604020202020204" pitchFamily="34" charset="0"/>
              <a:buChar char="•"/>
            </a:pPr>
            <a:r>
              <a:rPr lang="en-US" dirty="0"/>
              <a:t>Requires a Google Cloud project and API key</a:t>
            </a:r>
          </a:p>
          <a:p>
            <a:pPr>
              <a:buFont typeface="Arial" panose="020B0604020202020204" pitchFamily="34" charset="0"/>
              <a:buChar char="•"/>
            </a:pPr>
            <a:r>
              <a:rPr lang="en-US" dirty="0"/>
              <a:t>Each request includes the key via </a:t>
            </a:r>
            <a:r>
              <a:rPr lang="en-US" dirty="0" err="1"/>
              <a:t>developerKey</a:t>
            </a:r>
            <a:endParaRPr lang="en-US" dirty="0"/>
          </a:p>
          <a:p>
            <a:pPr>
              <a:buFont typeface="Arial" panose="020B0604020202020204" pitchFamily="34" charset="0"/>
              <a:buChar char="•"/>
            </a:pPr>
            <a:r>
              <a:rPr lang="en-US" dirty="0"/>
              <a:t>Quota System - Each API request costs “quota units.”</a:t>
            </a:r>
          </a:p>
          <a:p>
            <a:pPr>
              <a:buFont typeface="Arial" panose="020B0604020202020204" pitchFamily="34" charset="0"/>
              <a:buChar char="•"/>
            </a:pPr>
            <a:r>
              <a:rPr lang="en-US" dirty="0"/>
              <a:t>Default daily limit: 10,000 units</a:t>
            </a:r>
          </a:p>
          <a:p>
            <a:pPr lvl="1">
              <a:buFont typeface="Arial" panose="020B0604020202020204" pitchFamily="34" charset="0"/>
              <a:buChar char="•"/>
            </a:pPr>
            <a:r>
              <a:rPr lang="en-US" dirty="0" err="1"/>
              <a:t>videos.list</a:t>
            </a:r>
            <a:r>
              <a:rPr lang="en-US" dirty="0"/>
              <a:t>: 1 unit</a:t>
            </a:r>
          </a:p>
          <a:p>
            <a:pPr lvl="1">
              <a:buFont typeface="Arial" panose="020B0604020202020204" pitchFamily="34" charset="0"/>
              <a:buChar char="•"/>
            </a:pPr>
            <a:r>
              <a:rPr lang="en-US" dirty="0" err="1"/>
              <a:t>search.list</a:t>
            </a:r>
            <a:r>
              <a:rPr lang="en-US" dirty="0"/>
              <a:t>: 100 units</a:t>
            </a:r>
          </a:p>
        </p:txBody>
      </p:sp>
      <p:sp>
        <p:nvSpPr>
          <p:cNvPr id="3" name="Title 2">
            <a:extLst>
              <a:ext uri="{FF2B5EF4-FFF2-40B4-BE49-F238E27FC236}">
                <a16:creationId xmlns:a16="http://schemas.microsoft.com/office/drawing/2014/main" id="{7D6EF38B-0639-BA65-3423-9FF903D7CC01}"/>
              </a:ext>
            </a:extLst>
          </p:cNvPr>
          <p:cNvSpPr>
            <a:spLocks noGrp="1"/>
          </p:cNvSpPr>
          <p:nvPr>
            <p:ph type="title"/>
          </p:nvPr>
        </p:nvSpPr>
        <p:spPr/>
        <p:txBody>
          <a:bodyPr/>
          <a:lstStyle/>
          <a:p>
            <a:r>
              <a:rPr lang="en-US" dirty="0"/>
              <a:t>What is the YouTube Data API?</a:t>
            </a:r>
          </a:p>
        </p:txBody>
      </p:sp>
    </p:spTree>
    <p:extLst>
      <p:ext uri="{BB962C8B-B14F-4D97-AF65-F5344CB8AC3E}">
        <p14:creationId xmlns:p14="http://schemas.microsoft.com/office/powerpoint/2010/main" val="420997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A6F785B-4ACF-69AD-1733-2A86C692F567}"/>
              </a:ext>
            </a:extLst>
          </p:cNvPr>
          <p:cNvSpPr>
            <a:spLocks noGrp="1"/>
          </p:cNvSpPr>
          <p:nvPr>
            <p:ph type="subTitle" idx="1"/>
          </p:nvPr>
        </p:nvSpPr>
        <p:spPr/>
        <p:txBody>
          <a:bodyPr/>
          <a:lstStyle/>
          <a:p>
            <a:pPr>
              <a:buFont typeface="Arial" panose="020B0604020202020204" pitchFamily="34" charset="0"/>
              <a:buChar char="•"/>
            </a:pPr>
            <a:r>
              <a:rPr lang="en-US" b="1" dirty="0"/>
              <a:t>Content Engagement:</a:t>
            </a:r>
            <a:r>
              <a:rPr lang="en-US" dirty="0"/>
              <a:t> Track views, watch time, average view duration, likes/dislikes, comments, shares, and audience retention to assess how viewers interact with and respond to your videos.</a:t>
            </a:r>
          </a:p>
          <a:p>
            <a:pPr>
              <a:buFont typeface="Arial" panose="020B0604020202020204" pitchFamily="34" charset="0"/>
              <a:buChar char="•"/>
            </a:pPr>
            <a:r>
              <a:rPr lang="en-US" b="1" dirty="0"/>
              <a:t>Audience Insights: </a:t>
            </a:r>
            <a:r>
              <a:rPr lang="en-US" dirty="0"/>
              <a:t>Analyze geographic data, age groups, and gender to understand who is watching and where, helping tailor content to target demographics and regions.</a:t>
            </a:r>
          </a:p>
          <a:p>
            <a:pPr>
              <a:buFont typeface="Arial" panose="020B0604020202020204" pitchFamily="34" charset="0"/>
              <a:buChar char="•"/>
            </a:pPr>
            <a:r>
              <a:rPr lang="en-US" b="1" dirty="0"/>
              <a:t>Subscriber Trends: </a:t>
            </a:r>
            <a:r>
              <a:rPr lang="en-US" dirty="0"/>
              <a:t>Monitor subscribers gained and lost, and distinguish between new and returning viewers to evaluate channel growth and audience loyalty.</a:t>
            </a:r>
          </a:p>
          <a:p>
            <a:pPr>
              <a:buFont typeface="Arial" panose="020B0604020202020204" pitchFamily="34" charset="0"/>
              <a:buChar char="•"/>
            </a:pPr>
            <a:r>
              <a:rPr lang="en-US" b="1" dirty="0"/>
              <a:t>Traffic Sources:</a:t>
            </a:r>
            <a:r>
              <a:rPr lang="en-US" dirty="0"/>
              <a:t> Identify how viewers discover your content (e.g., search, external sites, related videos, notifications) to optimize distribution and reach.</a:t>
            </a:r>
          </a:p>
          <a:p>
            <a:pPr>
              <a:buFont typeface="Arial" panose="020B0604020202020204" pitchFamily="34" charset="0"/>
              <a:buChar char="•"/>
            </a:pPr>
            <a:r>
              <a:rPr lang="en-US" b="1" dirty="0"/>
              <a:t>Playback &amp; Technology: </a:t>
            </a:r>
            <a:r>
              <a:rPr lang="en-US" dirty="0"/>
              <a:t>Review playback locations and device/operating system usage to inform content production and ensure accessibility across platforms.</a:t>
            </a:r>
          </a:p>
          <a:p>
            <a:pPr>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A414501E-E571-6668-E33C-CD9BA3FB9E0D}"/>
              </a:ext>
            </a:extLst>
          </p:cNvPr>
          <p:cNvSpPr>
            <a:spLocks noGrp="1"/>
          </p:cNvSpPr>
          <p:nvPr>
            <p:ph type="title"/>
          </p:nvPr>
        </p:nvSpPr>
        <p:spPr/>
        <p:txBody>
          <a:bodyPr/>
          <a:lstStyle/>
          <a:p>
            <a:r>
              <a:rPr lang="en-US" dirty="0"/>
              <a:t>Capabilities</a:t>
            </a:r>
          </a:p>
        </p:txBody>
      </p:sp>
    </p:spTree>
    <p:extLst>
      <p:ext uri="{BB962C8B-B14F-4D97-AF65-F5344CB8AC3E}">
        <p14:creationId xmlns:p14="http://schemas.microsoft.com/office/powerpoint/2010/main" val="3139133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74082F5-92B9-E34F-8B9A-2C7D1CEC37E8}"/>
              </a:ext>
            </a:extLst>
          </p:cNvPr>
          <p:cNvSpPr>
            <a:spLocks noGrp="1"/>
          </p:cNvSpPr>
          <p:nvPr>
            <p:ph type="subTitle" idx="1"/>
          </p:nvPr>
        </p:nvSpPr>
        <p:spPr/>
        <p:txBody>
          <a:bodyPr/>
          <a:lstStyle/>
          <a:p>
            <a:endParaRPr lang="en-US" dirty="0"/>
          </a:p>
          <a:p>
            <a:pPr>
              <a:buFont typeface="Arial" panose="020B0604020202020204" pitchFamily="34" charset="0"/>
              <a:buChar char="•"/>
            </a:pPr>
            <a:r>
              <a:rPr lang="en-US" dirty="0"/>
              <a:t>Finds the </a:t>
            </a:r>
            <a:r>
              <a:rPr lang="en-US" b="1" dirty="0"/>
              <a:t>top trending YouTube channels in Indonesia</a:t>
            </a:r>
            <a:r>
              <a:rPr lang="en-US" dirty="0"/>
              <a:t> by:</a:t>
            </a:r>
          </a:p>
          <a:p>
            <a:pPr lvl="1">
              <a:buFont typeface="Arial" panose="020B0604020202020204" pitchFamily="34" charset="0"/>
              <a:buChar char="•"/>
            </a:pPr>
            <a:r>
              <a:rPr lang="en-US" dirty="0"/>
              <a:t>Fetching the most popular videos in Indonesia.</a:t>
            </a:r>
          </a:p>
          <a:p>
            <a:pPr lvl="1">
              <a:buFont typeface="Arial" panose="020B0604020202020204" pitchFamily="34" charset="0"/>
              <a:buChar char="•"/>
            </a:pPr>
            <a:r>
              <a:rPr lang="en-US" dirty="0"/>
              <a:t>Extracting their </a:t>
            </a:r>
            <a:r>
              <a:rPr lang="en-US" b="1" dirty="0"/>
              <a:t>channel IDs</a:t>
            </a:r>
            <a:r>
              <a:rPr lang="en-US" dirty="0"/>
              <a:t> and </a:t>
            </a:r>
            <a:r>
              <a:rPr lang="en-US" b="1" dirty="0"/>
              <a:t>channel names</a:t>
            </a:r>
          </a:p>
          <a:p>
            <a:pPr lvl="1">
              <a:buFont typeface="Arial" panose="020B0604020202020204" pitchFamily="34" charset="0"/>
              <a:buChar char="•"/>
            </a:pPr>
            <a:r>
              <a:rPr lang="en-US" dirty="0"/>
              <a:t>Saving those to a local text file so they can be analyzed later</a:t>
            </a:r>
          </a:p>
          <a:p>
            <a:pPr>
              <a:buFont typeface="Arial" panose="020B0604020202020204" pitchFamily="34" charset="0"/>
              <a:buChar char="•"/>
            </a:pPr>
            <a:r>
              <a:rPr lang="en-US" dirty="0"/>
              <a:t>Key Concepts</a:t>
            </a:r>
          </a:p>
          <a:p>
            <a:pPr lvl="1">
              <a:buFont typeface="Arial" panose="020B0604020202020204" pitchFamily="34" charset="0"/>
              <a:buChar char="•"/>
            </a:pPr>
            <a:r>
              <a:rPr lang="en-US" dirty="0"/>
              <a:t>YouTube Data API v3</a:t>
            </a:r>
          </a:p>
          <a:p>
            <a:pPr lvl="1">
              <a:buFont typeface="Arial" panose="020B0604020202020204" pitchFamily="34" charset="0"/>
              <a:buChar char="•"/>
            </a:pPr>
            <a:r>
              <a:rPr lang="en-US" dirty="0"/>
              <a:t>API Key</a:t>
            </a:r>
          </a:p>
          <a:p>
            <a:pPr lvl="1">
              <a:buFont typeface="Arial" panose="020B0604020202020204" pitchFamily="34" charset="0"/>
              <a:buChar char="•"/>
            </a:pPr>
            <a:r>
              <a:rPr lang="en-US" dirty="0"/>
              <a:t>Endpoints - videos().list or channels().list</a:t>
            </a:r>
          </a:p>
          <a:p>
            <a:pPr lvl="1">
              <a:buFont typeface="Arial" panose="020B0604020202020204" pitchFamily="34" charset="0"/>
              <a:buChar char="•"/>
            </a:pPr>
            <a:r>
              <a:rPr lang="en-US" dirty="0"/>
              <a:t>JSON Responses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72FE680E-19E0-8C02-9FCD-B6C0616FB81C}"/>
              </a:ext>
            </a:extLst>
          </p:cNvPr>
          <p:cNvSpPr>
            <a:spLocks noGrp="1"/>
          </p:cNvSpPr>
          <p:nvPr>
            <p:ph type="title"/>
          </p:nvPr>
        </p:nvSpPr>
        <p:spPr/>
        <p:txBody>
          <a:bodyPr/>
          <a:lstStyle/>
          <a:p>
            <a:r>
              <a:rPr lang="en-US" dirty="0"/>
              <a:t>First Step: Searching top Channels in Indonesia</a:t>
            </a:r>
          </a:p>
        </p:txBody>
      </p:sp>
    </p:spTree>
    <p:extLst>
      <p:ext uri="{BB962C8B-B14F-4D97-AF65-F5344CB8AC3E}">
        <p14:creationId xmlns:p14="http://schemas.microsoft.com/office/powerpoint/2010/main" val="2717785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7E5E52F-A6D6-A438-CC8B-A50DD8F7FFF0}"/>
              </a:ext>
            </a:extLst>
          </p:cNvPr>
          <p:cNvSpPr>
            <a:spLocks noGrp="1"/>
          </p:cNvSpPr>
          <p:nvPr>
            <p:ph type="subTitle" idx="1"/>
          </p:nvPr>
        </p:nvSpPr>
        <p:spPr/>
        <p:txBody>
          <a:bodyPr/>
          <a:lstStyle/>
          <a:p>
            <a:pPr>
              <a:buFont typeface="Arial" panose="020B0604020202020204" pitchFamily="34" charset="0"/>
              <a:buChar char="•"/>
            </a:pPr>
            <a:r>
              <a:rPr lang="en-US" dirty="0"/>
              <a:t>Setup</a:t>
            </a:r>
          </a:p>
          <a:p>
            <a:pPr lvl="1">
              <a:buFont typeface="Arial" panose="020B0604020202020204" pitchFamily="34" charset="0"/>
              <a:buChar char="•"/>
            </a:pPr>
            <a:r>
              <a:rPr lang="en-US" dirty="0"/>
              <a:t>Imports Google’s client library</a:t>
            </a:r>
          </a:p>
          <a:p>
            <a:pPr lvl="1">
              <a:buFont typeface="Arial" panose="020B0604020202020204" pitchFamily="34" charset="0"/>
              <a:buChar char="•"/>
            </a:pPr>
            <a:r>
              <a:rPr lang="en-US" dirty="0"/>
              <a:t>Defines constants for API key, region, and output file</a:t>
            </a:r>
          </a:p>
          <a:p>
            <a:pPr lvl="1">
              <a:buFont typeface="Arial" panose="020B0604020202020204" pitchFamily="34" charset="0"/>
              <a:buChar char="•"/>
            </a:pPr>
            <a:r>
              <a:rPr lang="en-US" dirty="0"/>
              <a:t>REGION_CODE='ID' specifies Indonesia (using ISO country code)</a:t>
            </a:r>
          </a:p>
          <a:p>
            <a:pPr>
              <a:buFont typeface="Arial" panose="020B0604020202020204" pitchFamily="34" charset="0"/>
              <a:buChar char="•"/>
            </a:pPr>
            <a:r>
              <a:rPr lang="en-US" dirty="0"/>
              <a:t>Initialize API client</a:t>
            </a:r>
          </a:p>
          <a:p>
            <a:pPr>
              <a:buFont typeface="Arial" panose="020B0604020202020204" pitchFamily="34" charset="0"/>
              <a:buChar char="•"/>
            </a:pPr>
            <a:r>
              <a:rPr lang="en-US" dirty="0"/>
              <a:t>Load and Save Channels</a:t>
            </a:r>
          </a:p>
          <a:p>
            <a:pPr lvl="1">
              <a:buFont typeface="Arial" panose="020B0604020202020204" pitchFamily="34" charset="0"/>
              <a:buChar char="•"/>
            </a:pPr>
            <a:r>
              <a:rPr lang="en-US" dirty="0"/>
              <a:t>Keeps track of channels you’ve already saved (so no duplicates)</a:t>
            </a:r>
          </a:p>
          <a:p>
            <a:pPr lvl="1">
              <a:buFont typeface="Arial" panose="020B0604020202020204" pitchFamily="34" charset="0"/>
              <a:buChar char="•"/>
            </a:pPr>
            <a:r>
              <a:rPr lang="en-US" dirty="0"/>
              <a:t>Stores them in a text file</a:t>
            </a:r>
          </a:p>
          <a:p>
            <a:pPr>
              <a:buFont typeface="Arial" panose="020B0604020202020204" pitchFamily="34" charset="0"/>
              <a:buChar char="•"/>
            </a:pPr>
            <a:r>
              <a:rPr lang="en-US" dirty="0"/>
              <a:t>Fetch Trending Videos</a:t>
            </a:r>
          </a:p>
          <a:p>
            <a:pPr lvl="1">
              <a:buFont typeface="Arial" panose="020B0604020202020204" pitchFamily="34" charset="0"/>
              <a:buChar char="•"/>
            </a:pPr>
            <a:r>
              <a:rPr lang="en-US" dirty="0"/>
              <a:t>Uses the </a:t>
            </a:r>
            <a:r>
              <a:rPr lang="en-US" b="1" dirty="0"/>
              <a:t>“</a:t>
            </a:r>
            <a:r>
              <a:rPr lang="en-US" b="1" dirty="0" err="1"/>
              <a:t>videos.list</a:t>
            </a:r>
            <a:r>
              <a:rPr lang="en-US" b="1" dirty="0"/>
              <a:t>”</a:t>
            </a:r>
            <a:r>
              <a:rPr lang="en-US" dirty="0"/>
              <a:t> endpoint with the chart=</a:t>
            </a:r>
            <a:r>
              <a:rPr lang="en-US" dirty="0" err="1"/>
              <a:t>mostPopular</a:t>
            </a:r>
            <a:r>
              <a:rPr lang="en-US" dirty="0"/>
              <a:t> parameter to get the top trending videos in Indonesia</a:t>
            </a:r>
          </a:p>
          <a:p>
            <a:pPr>
              <a:buFont typeface="Arial" panose="020B0604020202020204" pitchFamily="34" charset="0"/>
              <a:buChar char="•"/>
            </a:pPr>
            <a:r>
              <a:rPr lang="en-US" dirty="0"/>
              <a:t>Iterates over all trending videos</a:t>
            </a:r>
          </a:p>
          <a:p>
            <a:pPr>
              <a:buFont typeface="Arial" panose="020B0604020202020204" pitchFamily="34" charset="0"/>
              <a:buChar char="•"/>
            </a:pPr>
            <a:r>
              <a:rPr lang="en-US" dirty="0"/>
              <a:t>Extracts the </a:t>
            </a:r>
            <a:r>
              <a:rPr lang="en-US" dirty="0" err="1"/>
              <a:t>channelId</a:t>
            </a:r>
            <a:r>
              <a:rPr lang="en-US" dirty="0"/>
              <a:t> and </a:t>
            </a:r>
            <a:r>
              <a:rPr lang="en-US" dirty="0" err="1"/>
              <a:t>channelTitle</a:t>
            </a:r>
            <a:endParaRPr lang="en-US" dirty="0"/>
          </a:p>
          <a:p>
            <a:pPr>
              <a:buFont typeface="Arial" panose="020B0604020202020204" pitchFamily="34" charset="0"/>
              <a:buChar char="•"/>
            </a:pPr>
            <a:r>
              <a:rPr lang="en-US" dirty="0"/>
              <a:t>Adds any new channels to the file</a:t>
            </a:r>
          </a:p>
          <a:p>
            <a:pPr>
              <a:buFont typeface="Arial" panose="020B0604020202020204" pitchFamily="34" charset="0"/>
              <a:buChar char="•"/>
            </a:pPr>
            <a:r>
              <a:rPr lang="en-US" dirty="0"/>
              <a:t>Prints out how many were added</a:t>
            </a:r>
          </a:p>
        </p:txBody>
      </p:sp>
      <p:sp>
        <p:nvSpPr>
          <p:cNvPr id="3" name="Title 2">
            <a:extLst>
              <a:ext uri="{FF2B5EF4-FFF2-40B4-BE49-F238E27FC236}">
                <a16:creationId xmlns:a16="http://schemas.microsoft.com/office/drawing/2014/main" id="{38D44581-1883-3872-4D96-EFB02B6FB320}"/>
              </a:ext>
            </a:extLst>
          </p:cNvPr>
          <p:cNvSpPr>
            <a:spLocks noGrp="1"/>
          </p:cNvSpPr>
          <p:nvPr>
            <p:ph type="title"/>
          </p:nvPr>
        </p:nvSpPr>
        <p:spPr/>
        <p:txBody>
          <a:bodyPr/>
          <a:lstStyle/>
          <a:p>
            <a:r>
              <a:rPr lang="en-US" dirty="0"/>
              <a:t>Fetching channels</a:t>
            </a:r>
          </a:p>
        </p:txBody>
      </p:sp>
    </p:spTree>
    <p:extLst>
      <p:ext uri="{BB962C8B-B14F-4D97-AF65-F5344CB8AC3E}">
        <p14:creationId xmlns:p14="http://schemas.microsoft.com/office/powerpoint/2010/main" val="2467963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F748-D888-0853-CF6D-7A182AE6AF53}"/>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E68C556-13DB-475F-2DD9-41E75EA09202}"/>
              </a:ext>
            </a:extLst>
          </p:cNvPr>
          <p:cNvSpPr>
            <a:spLocks noGrp="1"/>
          </p:cNvSpPr>
          <p:nvPr>
            <p:ph type="subTitle" idx="1"/>
          </p:nvPr>
        </p:nvSpPr>
        <p:spPr/>
        <p:txBody>
          <a:bodyPr/>
          <a:lstStyle/>
          <a:p>
            <a:pPr>
              <a:buFont typeface="Arial" panose="020B0604020202020204" pitchFamily="34" charset="0"/>
              <a:buChar char="•"/>
            </a:pPr>
            <a:r>
              <a:rPr lang="en-US" dirty="0"/>
              <a:t>Load channels from the file.</a:t>
            </a:r>
          </a:p>
          <a:p>
            <a:pPr>
              <a:buFont typeface="Arial" panose="020B0604020202020204" pitchFamily="34" charset="0"/>
              <a:buChar char="•"/>
            </a:pPr>
            <a:r>
              <a:rPr lang="en-US" dirty="0"/>
              <a:t>Ask user:</a:t>
            </a:r>
          </a:p>
          <a:p>
            <a:pPr lvl="1">
              <a:buFont typeface="Arial" panose="020B0604020202020204" pitchFamily="34" charset="0"/>
              <a:buChar char="•"/>
            </a:pPr>
            <a:r>
              <a:rPr lang="en-US" dirty="0"/>
              <a:t>Fetch top N channels?</a:t>
            </a:r>
          </a:p>
          <a:p>
            <a:pPr lvl="1">
              <a:buFont typeface="Arial" panose="020B0604020202020204" pitchFamily="34" charset="0"/>
              <a:buChar char="•"/>
            </a:pPr>
            <a:r>
              <a:rPr lang="en-US" dirty="0"/>
              <a:t>Or just one specific channel ID?</a:t>
            </a:r>
          </a:p>
          <a:p>
            <a:pPr>
              <a:buFont typeface="Arial" panose="020B0604020202020204" pitchFamily="34" charset="0"/>
              <a:buChar char="•"/>
            </a:pPr>
            <a:r>
              <a:rPr lang="en-US" dirty="0"/>
              <a:t>For each channel:</a:t>
            </a:r>
          </a:p>
          <a:p>
            <a:pPr lvl="1">
              <a:buFont typeface="Arial" panose="020B0604020202020204" pitchFamily="34" charset="0"/>
              <a:buChar char="•"/>
            </a:pPr>
            <a:r>
              <a:rPr lang="en-US" dirty="0"/>
              <a:t>Print statistics.</a:t>
            </a:r>
          </a:p>
          <a:p>
            <a:pPr lvl="1">
              <a:buFont typeface="Arial" panose="020B0604020202020204" pitchFamily="34" charset="0"/>
              <a:buChar char="•"/>
            </a:pPr>
            <a:r>
              <a:rPr lang="en-US" dirty="0"/>
              <a:t>Ask how many recent videos to fetch.</a:t>
            </a:r>
          </a:p>
          <a:p>
            <a:pPr lvl="1">
              <a:buFont typeface="Arial" panose="020B0604020202020204" pitchFamily="34" charset="0"/>
              <a:buChar char="•"/>
            </a:pPr>
            <a:r>
              <a:rPr lang="en-US" dirty="0"/>
              <a:t>Print per-video stats.</a:t>
            </a:r>
          </a:p>
          <a:p>
            <a:pPr>
              <a:buFont typeface="Arial" panose="020B0604020202020204" pitchFamily="34" charset="0"/>
              <a:buChar char="•"/>
            </a:pPr>
            <a:r>
              <a:rPr lang="en-US" dirty="0"/>
              <a:t>Further analysis using prompts like:</a:t>
            </a:r>
          </a:p>
          <a:p>
            <a:pPr lvl="1">
              <a:buFont typeface="Arial" panose="020B0604020202020204" pitchFamily="34" charset="0"/>
              <a:buChar char="•"/>
            </a:pPr>
            <a:r>
              <a:rPr lang="en-US" dirty="0"/>
              <a:t>From the video description above augmented by an internet search analyze the following 1. The personal details of the Channel Owner 2. The other Social Media links of the Channel owner 3. Details of any promotion(s) found</a:t>
            </a:r>
          </a:p>
          <a:p>
            <a:pPr lvl="1">
              <a:buFont typeface="Arial" panose="020B0604020202020204" pitchFamily="34" charset="0"/>
              <a:buChar char="•"/>
            </a:pPr>
            <a:r>
              <a:rPr lang="en-US" dirty="0"/>
              <a:t>Read this description carefully and tell me : 1. Any promotions that you find in this and if yes, from whom. 2. Any other related social media links you find of the YouTuber 3. Any personal information that you find about the YouTuber</a:t>
            </a:r>
          </a:p>
        </p:txBody>
      </p:sp>
      <p:sp>
        <p:nvSpPr>
          <p:cNvPr id="3" name="Title 2">
            <a:extLst>
              <a:ext uri="{FF2B5EF4-FFF2-40B4-BE49-F238E27FC236}">
                <a16:creationId xmlns:a16="http://schemas.microsoft.com/office/drawing/2014/main" id="{6443D1AB-819D-7442-EAA5-1AC4841C228B}"/>
              </a:ext>
            </a:extLst>
          </p:cNvPr>
          <p:cNvSpPr>
            <a:spLocks noGrp="1"/>
          </p:cNvSpPr>
          <p:nvPr>
            <p:ph type="title"/>
          </p:nvPr>
        </p:nvSpPr>
        <p:spPr/>
        <p:txBody>
          <a:bodyPr/>
          <a:lstStyle/>
          <a:p>
            <a:r>
              <a:rPr lang="en-US" dirty="0"/>
              <a:t>Fetching Video details</a:t>
            </a:r>
          </a:p>
        </p:txBody>
      </p:sp>
    </p:spTree>
    <p:extLst>
      <p:ext uri="{BB962C8B-B14F-4D97-AF65-F5344CB8AC3E}">
        <p14:creationId xmlns:p14="http://schemas.microsoft.com/office/powerpoint/2010/main" val="1653413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B1CADAC-92E5-8F11-16CB-A60424D32901}"/>
              </a:ext>
            </a:extLst>
          </p:cNvPr>
          <p:cNvSpPr>
            <a:spLocks noGrp="1"/>
          </p:cNvSpPr>
          <p:nvPr>
            <p:ph type="subTitle" idx="1"/>
          </p:nvPr>
        </p:nvSpPr>
        <p:spPr/>
        <p:txBody>
          <a:bodyPr/>
          <a:lstStyle/>
          <a:p>
            <a:pPr>
              <a:buFont typeface="Arial" panose="020B0604020202020204" pitchFamily="34" charset="0"/>
              <a:buChar char="•"/>
            </a:pPr>
            <a:r>
              <a:rPr lang="en-US" dirty="0"/>
              <a:t>Sets up API access and prepares to load saved channel IDs</a:t>
            </a:r>
          </a:p>
          <a:p>
            <a:pPr>
              <a:buFont typeface="Arial" panose="020B0604020202020204" pitchFamily="34" charset="0"/>
              <a:buChar char="•"/>
            </a:pPr>
            <a:r>
              <a:rPr lang="en-US" dirty="0"/>
              <a:t>Load Channels and turns them into a list of [</a:t>
            </a:r>
            <a:r>
              <a:rPr lang="en-US" dirty="0" err="1"/>
              <a:t>channel_id</a:t>
            </a:r>
            <a:r>
              <a:rPr lang="en-US" dirty="0"/>
              <a:t>, </a:t>
            </a:r>
            <a:r>
              <a:rPr lang="en-US" dirty="0" err="1"/>
              <a:t>channel_name</a:t>
            </a:r>
            <a:r>
              <a:rPr lang="en-US" dirty="0"/>
              <a:t>]</a:t>
            </a:r>
          </a:p>
          <a:p>
            <a:pPr>
              <a:buFont typeface="Arial" panose="020B0604020202020204" pitchFamily="34" charset="0"/>
              <a:buChar char="•"/>
            </a:pPr>
            <a:r>
              <a:rPr lang="en-US" dirty="0"/>
              <a:t>Get Channel Statistics like:</a:t>
            </a:r>
          </a:p>
          <a:p>
            <a:pPr lvl="1">
              <a:buFont typeface="Arial" panose="020B0604020202020204" pitchFamily="34" charset="0"/>
              <a:buChar char="•"/>
            </a:pPr>
            <a:r>
              <a:rPr lang="en-US" dirty="0"/>
              <a:t>Title</a:t>
            </a:r>
          </a:p>
          <a:p>
            <a:pPr lvl="1">
              <a:buFont typeface="Arial" panose="020B0604020202020204" pitchFamily="34" charset="0"/>
              <a:buChar char="•"/>
            </a:pPr>
            <a:r>
              <a:rPr lang="en-US" dirty="0"/>
              <a:t>Description</a:t>
            </a:r>
          </a:p>
          <a:p>
            <a:pPr lvl="1">
              <a:buFont typeface="Arial" panose="020B0604020202020204" pitchFamily="34" charset="0"/>
              <a:buChar char="•"/>
            </a:pPr>
            <a:r>
              <a:rPr lang="en-US" dirty="0"/>
              <a:t>Published date</a:t>
            </a:r>
          </a:p>
          <a:p>
            <a:pPr lvl="1">
              <a:buFont typeface="Arial" panose="020B0604020202020204" pitchFamily="34" charset="0"/>
              <a:buChar char="•"/>
            </a:pPr>
            <a:r>
              <a:rPr lang="en-US" dirty="0"/>
              <a:t>Subscriber count</a:t>
            </a:r>
          </a:p>
          <a:p>
            <a:pPr lvl="1">
              <a:buFont typeface="Arial" panose="020B0604020202020204" pitchFamily="34" charset="0"/>
              <a:buChar char="•"/>
            </a:pPr>
            <a:r>
              <a:rPr lang="en-US" dirty="0"/>
              <a:t>Total views</a:t>
            </a:r>
          </a:p>
          <a:p>
            <a:pPr lvl="1">
              <a:buFont typeface="Arial" panose="020B0604020202020204" pitchFamily="34" charset="0"/>
              <a:buChar char="•"/>
            </a:pPr>
            <a:r>
              <a:rPr lang="en-US" dirty="0"/>
              <a:t>Total videos</a:t>
            </a:r>
          </a:p>
          <a:p>
            <a:pPr>
              <a:buFont typeface="Arial" panose="020B0604020202020204" pitchFamily="34" charset="0"/>
              <a:buChar char="•"/>
            </a:pPr>
            <a:r>
              <a:rPr lang="en-US" dirty="0"/>
              <a:t>Returns a list of </a:t>
            </a:r>
            <a:r>
              <a:rPr lang="en-US" dirty="0" err="1"/>
              <a:t>videoIds</a:t>
            </a:r>
            <a:r>
              <a:rPr lang="en-US" dirty="0"/>
              <a:t> — the building blocks for the next step</a:t>
            </a:r>
          </a:p>
          <a:p>
            <a:pPr>
              <a:buFont typeface="Arial" panose="020B0604020202020204" pitchFamily="34" charset="0"/>
              <a:buChar char="•"/>
            </a:pPr>
            <a:r>
              <a:rPr lang="en-US" dirty="0"/>
              <a:t>For each video, returns:</a:t>
            </a:r>
          </a:p>
          <a:p>
            <a:pPr lvl="1">
              <a:buFont typeface="Arial" panose="020B0604020202020204" pitchFamily="34" charset="0"/>
              <a:buChar char="•"/>
            </a:pPr>
            <a:r>
              <a:rPr lang="en-US" dirty="0"/>
              <a:t>Title</a:t>
            </a:r>
          </a:p>
          <a:p>
            <a:pPr lvl="1">
              <a:buFont typeface="Arial" panose="020B0604020202020204" pitchFamily="34" charset="0"/>
              <a:buChar char="•"/>
            </a:pPr>
            <a:r>
              <a:rPr lang="en-US" dirty="0"/>
              <a:t>Description – Can be analyzed using AI</a:t>
            </a:r>
          </a:p>
          <a:p>
            <a:pPr lvl="1">
              <a:buFont typeface="Arial" panose="020B0604020202020204" pitchFamily="34" charset="0"/>
              <a:buChar char="•"/>
            </a:pPr>
            <a:r>
              <a:rPr lang="en-US" dirty="0"/>
              <a:t>Views</a:t>
            </a:r>
          </a:p>
          <a:p>
            <a:pPr lvl="1">
              <a:buFont typeface="Arial" panose="020B0604020202020204" pitchFamily="34" charset="0"/>
              <a:buChar char="•"/>
            </a:pPr>
            <a:r>
              <a:rPr lang="en-US" dirty="0"/>
              <a:t>Likes</a:t>
            </a:r>
          </a:p>
          <a:p>
            <a:pPr lvl="1">
              <a:buFont typeface="Arial" panose="020B0604020202020204" pitchFamily="34" charset="0"/>
              <a:buChar char="•"/>
            </a:pPr>
            <a:r>
              <a:rPr lang="en-US" dirty="0"/>
              <a:t>Comments</a:t>
            </a:r>
          </a:p>
        </p:txBody>
      </p:sp>
      <p:sp>
        <p:nvSpPr>
          <p:cNvPr id="3" name="Title 2">
            <a:extLst>
              <a:ext uri="{FF2B5EF4-FFF2-40B4-BE49-F238E27FC236}">
                <a16:creationId xmlns:a16="http://schemas.microsoft.com/office/drawing/2014/main" id="{363A5A69-B5E9-DF7C-4252-6BC2BBCA24D2}"/>
              </a:ext>
            </a:extLst>
          </p:cNvPr>
          <p:cNvSpPr>
            <a:spLocks noGrp="1"/>
          </p:cNvSpPr>
          <p:nvPr>
            <p:ph type="title"/>
          </p:nvPr>
        </p:nvSpPr>
        <p:spPr/>
        <p:txBody>
          <a:bodyPr/>
          <a:lstStyle/>
          <a:p>
            <a:r>
              <a:rPr lang="en-US" dirty="0"/>
              <a:t>Fetching Video details</a:t>
            </a:r>
          </a:p>
        </p:txBody>
      </p:sp>
    </p:spTree>
    <p:extLst>
      <p:ext uri="{BB962C8B-B14F-4D97-AF65-F5344CB8AC3E}">
        <p14:creationId xmlns:p14="http://schemas.microsoft.com/office/powerpoint/2010/main" val="3483194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602CC73-F3FA-604E-1A0A-2567EC5A72F2}"/>
              </a:ext>
            </a:extLst>
          </p:cNvPr>
          <p:cNvSpPr>
            <a:spLocks noGrp="1"/>
          </p:cNvSpPr>
          <p:nvPr>
            <p:ph type="subTitle" idx="1"/>
          </p:nvPr>
        </p:nvSpPr>
        <p:spPr/>
        <p:txBody>
          <a:bodyPr/>
          <a:lstStyle/>
          <a:p>
            <a:endParaRPr lang="en-US" dirty="0"/>
          </a:p>
          <a:p>
            <a:pPr>
              <a:buFont typeface="Arial" panose="020B0604020202020204" pitchFamily="34" charset="0"/>
              <a:buChar char="•"/>
            </a:pPr>
            <a:r>
              <a:rPr lang="en-US" dirty="0"/>
              <a:t>Automatically scroll through a YouTube channel’s </a:t>
            </a:r>
            <a:r>
              <a:rPr lang="en-US" b="1" dirty="0"/>
              <a:t>Videos</a:t>
            </a:r>
            <a:r>
              <a:rPr lang="en-US" dirty="0"/>
              <a:t> page and capture the URLs of every video posted by that channel.</a:t>
            </a:r>
          </a:p>
          <a:p>
            <a:pPr>
              <a:buFont typeface="Arial" panose="020B0604020202020204" pitchFamily="34" charset="0"/>
              <a:buChar char="•"/>
            </a:pPr>
            <a:r>
              <a:rPr lang="en-US" dirty="0"/>
              <a:t>Goes to the channel’s video listing page</a:t>
            </a:r>
          </a:p>
          <a:p>
            <a:pPr>
              <a:buFont typeface="Arial" panose="020B0604020202020204" pitchFamily="34" charset="0"/>
              <a:buChar char="•"/>
            </a:pPr>
            <a:r>
              <a:rPr lang="en-US" dirty="0"/>
              <a:t>Installs and opens a Chrome browser using </a:t>
            </a:r>
            <a:r>
              <a:rPr lang="en-US" dirty="0" err="1"/>
              <a:t>webdriver_manager</a:t>
            </a:r>
            <a:endParaRPr lang="en-US" dirty="0"/>
          </a:p>
          <a:p>
            <a:pPr>
              <a:buFont typeface="Arial" panose="020B0604020202020204" pitchFamily="34" charset="0"/>
              <a:buChar char="•"/>
            </a:pPr>
            <a:r>
              <a:rPr lang="en-US" dirty="0"/>
              <a:t>Scrolls to the bottom of the page repeatedly</a:t>
            </a:r>
          </a:p>
          <a:p>
            <a:pPr>
              <a:buFont typeface="Arial" panose="020B0604020202020204" pitchFamily="34" charset="0"/>
              <a:buChar char="•"/>
            </a:pPr>
            <a:r>
              <a:rPr lang="en-US" dirty="0"/>
              <a:t>YouTube loads more videos each time we scroll</a:t>
            </a:r>
          </a:p>
          <a:p>
            <a:pPr>
              <a:buFont typeface="Arial" panose="020B0604020202020204" pitchFamily="34" charset="0"/>
              <a:buChar char="•"/>
            </a:pPr>
            <a:r>
              <a:rPr lang="en-US" dirty="0"/>
              <a:t>Finds all &lt;a&gt; (anchor) elements that link to a YouTube video (each URL contains /</a:t>
            </a:r>
            <a:r>
              <a:rPr lang="en-US" dirty="0" err="1"/>
              <a:t>watch?v</a:t>
            </a:r>
            <a:r>
              <a:rPr lang="en-US" dirty="0"/>
              <a:t>=)</a:t>
            </a:r>
          </a:p>
          <a:p>
            <a:pPr>
              <a:buFont typeface="Arial" panose="020B0604020202020204" pitchFamily="34" charset="0"/>
              <a:buChar char="•"/>
            </a:pPr>
            <a:r>
              <a:rPr lang="en-US" dirty="0"/>
              <a:t>Outputs the file veritasium_video_urls.txt where each line is a direct YouTube video link for that channel</a:t>
            </a:r>
          </a:p>
        </p:txBody>
      </p:sp>
      <p:sp>
        <p:nvSpPr>
          <p:cNvPr id="3" name="Title 2">
            <a:extLst>
              <a:ext uri="{FF2B5EF4-FFF2-40B4-BE49-F238E27FC236}">
                <a16:creationId xmlns:a16="http://schemas.microsoft.com/office/drawing/2014/main" id="{5568D21A-C434-DEDE-8405-E6AE4E0F8B90}"/>
              </a:ext>
            </a:extLst>
          </p:cNvPr>
          <p:cNvSpPr>
            <a:spLocks noGrp="1"/>
          </p:cNvSpPr>
          <p:nvPr>
            <p:ph type="title"/>
          </p:nvPr>
        </p:nvSpPr>
        <p:spPr/>
        <p:txBody>
          <a:bodyPr/>
          <a:lstStyle/>
          <a:p>
            <a:r>
              <a:rPr lang="en-US" dirty="0"/>
              <a:t>Selenium based video URL fetching</a:t>
            </a:r>
          </a:p>
        </p:txBody>
      </p:sp>
    </p:spTree>
    <p:extLst>
      <p:ext uri="{BB962C8B-B14F-4D97-AF65-F5344CB8AC3E}">
        <p14:creationId xmlns:p14="http://schemas.microsoft.com/office/powerpoint/2010/main" val="2691501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56F0637-4B61-F973-F718-620D2327C756}"/>
              </a:ext>
            </a:extLst>
          </p:cNvPr>
          <p:cNvSpPr>
            <a:spLocks noGrp="1"/>
          </p:cNvSpPr>
          <p:nvPr>
            <p:ph type="subTitle" idx="1"/>
          </p:nvPr>
        </p:nvSpPr>
        <p:spPr/>
        <p:txBody>
          <a:bodyPr/>
          <a:lstStyle/>
          <a:p>
            <a:pPr>
              <a:buFont typeface="Arial" panose="020B0604020202020204" pitchFamily="34" charset="0"/>
              <a:buChar char="•"/>
            </a:pPr>
            <a:endParaRPr lang="en-US" dirty="0"/>
          </a:p>
          <a:p>
            <a:pPr>
              <a:buFont typeface="Arial" panose="020B0604020202020204" pitchFamily="34" charset="0"/>
              <a:buChar char="•"/>
            </a:pPr>
            <a:r>
              <a:rPr lang="en-US" dirty="0"/>
              <a:t>Given a list of video URLs, the code extracts the metadata (views, likes, comments, etc.) and export to a CSV</a:t>
            </a:r>
          </a:p>
          <a:p>
            <a:pPr>
              <a:buFont typeface="Arial" panose="020B0604020202020204" pitchFamily="34" charset="0"/>
              <a:buChar char="•"/>
            </a:pPr>
            <a:r>
              <a:rPr lang="en-US" dirty="0"/>
              <a:t>Creates a CSV file and defines the columns for storing results</a:t>
            </a:r>
          </a:p>
          <a:p>
            <a:pPr>
              <a:buFont typeface="Arial" panose="020B0604020202020204" pitchFamily="34" charset="0"/>
              <a:buChar char="•"/>
            </a:pPr>
            <a:r>
              <a:rPr lang="en-US" dirty="0"/>
              <a:t>Creates a list of URLs - Hard-coded list (you could instead read these from the .txt file produced by the first script)</a:t>
            </a:r>
          </a:p>
          <a:p>
            <a:pPr>
              <a:buFont typeface="Arial" panose="020B0604020202020204" pitchFamily="34" charset="0"/>
              <a:buChar char="•"/>
            </a:pPr>
            <a:r>
              <a:rPr lang="en-US" dirty="0"/>
              <a:t>Same logic: launch Chrome, ready to visit YouTube videos</a:t>
            </a:r>
          </a:p>
          <a:p>
            <a:pPr>
              <a:buFont typeface="Arial" panose="020B0604020202020204" pitchFamily="34" charset="0"/>
              <a:buChar char="•"/>
            </a:pPr>
            <a:r>
              <a:rPr lang="en-US" dirty="0" err="1"/>
              <a:t>process_video</a:t>
            </a:r>
            <a:r>
              <a:rPr lang="en-US" dirty="0"/>
              <a:t>() Function</a:t>
            </a:r>
          </a:p>
          <a:p>
            <a:pPr lvl="1">
              <a:buFont typeface="Arial" panose="020B0604020202020204" pitchFamily="34" charset="0"/>
              <a:buChar char="•"/>
            </a:pPr>
            <a:r>
              <a:rPr lang="en-US" dirty="0"/>
              <a:t>Opens the page</a:t>
            </a:r>
          </a:p>
          <a:p>
            <a:pPr lvl="1">
              <a:buFont typeface="Arial" panose="020B0604020202020204" pitchFamily="34" charset="0"/>
              <a:buChar char="•"/>
            </a:pPr>
            <a:r>
              <a:rPr lang="en-US" dirty="0"/>
              <a:t>Waits for elements to load (</a:t>
            </a:r>
            <a:r>
              <a:rPr lang="en-US" dirty="0" err="1"/>
              <a:t>time.sleep</a:t>
            </a:r>
            <a:r>
              <a:rPr lang="en-US" dirty="0"/>
              <a:t> + </a:t>
            </a:r>
            <a:r>
              <a:rPr lang="en-US" dirty="0" err="1"/>
              <a:t>WebDriverWait</a:t>
            </a:r>
            <a:r>
              <a:rPr lang="en-US" dirty="0"/>
              <a:t>)</a:t>
            </a:r>
          </a:p>
          <a:p>
            <a:pPr lvl="1">
              <a:buFont typeface="Arial" panose="020B0604020202020204" pitchFamily="34" charset="0"/>
              <a:buChar char="•"/>
            </a:pPr>
            <a:r>
              <a:rPr lang="en-US" dirty="0"/>
              <a:t>Extracts information</a:t>
            </a:r>
          </a:p>
          <a:p>
            <a:pPr>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006BC6FC-312B-788E-1E2B-EA360C6B94BC}"/>
              </a:ext>
            </a:extLst>
          </p:cNvPr>
          <p:cNvSpPr>
            <a:spLocks noGrp="1"/>
          </p:cNvSpPr>
          <p:nvPr>
            <p:ph type="title"/>
          </p:nvPr>
        </p:nvSpPr>
        <p:spPr/>
        <p:txBody>
          <a:bodyPr/>
          <a:lstStyle/>
          <a:p>
            <a:r>
              <a:rPr lang="en-US" dirty="0"/>
              <a:t>Extracting video details without API</a:t>
            </a:r>
          </a:p>
        </p:txBody>
      </p:sp>
    </p:spTree>
    <p:extLst>
      <p:ext uri="{BB962C8B-B14F-4D97-AF65-F5344CB8AC3E}">
        <p14:creationId xmlns:p14="http://schemas.microsoft.com/office/powerpoint/2010/main" val="2207132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02DF80-0288-335B-77EF-89BA47EFDAE2}"/>
              </a:ext>
            </a:extLst>
          </p:cNvPr>
          <p:cNvSpPr>
            <a:spLocks noGrp="1"/>
          </p:cNvSpPr>
          <p:nvPr>
            <p:ph type="title"/>
          </p:nvPr>
        </p:nvSpPr>
        <p:spPr/>
        <p:txBody>
          <a:bodyPr/>
          <a:lstStyle/>
          <a:p>
            <a:r>
              <a:rPr lang="en-US" dirty="0"/>
              <a:t>Data Extraction</a:t>
            </a:r>
          </a:p>
        </p:txBody>
      </p:sp>
      <p:graphicFrame>
        <p:nvGraphicFramePr>
          <p:cNvPr id="4" name="Table 3">
            <a:extLst>
              <a:ext uri="{FF2B5EF4-FFF2-40B4-BE49-F238E27FC236}">
                <a16:creationId xmlns:a16="http://schemas.microsoft.com/office/drawing/2014/main" id="{8A788197-F08C-3808-8EAB-C39402CACBE7}"/>
              </a:ext>
            </a:extLst>
          </p:cNvPr>
          <p:cNvGraphicFramePr>
            <a:graphicFrameLocks noGrp="1"/>
          </p:cNvGraphicFramePr>
          <p:nvPr>
            <p:extLst>
              <p:ext uri="{D42A27DB-BD31-4B8C-83A1-F6EECF244321}">
                <p14:modId xmlns:p14="http://schemas.microsoft.com/office/powerpoint/2010/main" val="3562010803"/>
              </p:ext>
            </p:extLst>
          </p:nvPr>
        </p:nvGraphicFramePr>
        <p:xfrm>
          <a:off x="719874" y="1160774"/>
          <a:ext cx="7704000" cy="3556386"/>
        </p:xfrm>
        <a:graphic>
          <a:graphicData uri="http://schemas.openxmlformats.org/drawingml/2006/table">
            <a:tbl>
              <a:tblPr firstRow="1" bandRow="1">
                <a:tableStyleId>{D3ADA68B-9DE3-4D22-A44F-E6205B1A7E7C}</a:tableStyleId>
              </a:tblPr>
              <a:tblGrid>
                <a:gridCol w="2568000">
                  <a:extLst>
                    <a:ext uri="{9D8B030D-6E8A-4147-A177-3AD203B41FA5}">
                      <a16:colId xmlns:a16="http://schemas.microsoft.com/office/drawing/2014/main" val="3399384183"/>
                    </a:ext>
                  </a:extLst>
                </a:gridCol>
                <a:gridCol w="2568000">
                  <a:extLst>
                    <a:ext uri="{9D8B030D-6E8A-4147-A177-3AD203B41FA5}">
                      <a16:colId xmlns:a16="http://schemas.microsoft.com/office/drawing/2014/main" val="3587747344"/>
                    </a:ext>
                  </a:extLst>
                </a:gridCol>
                <a:gridCol w="2568000">
                  <a:extLst>
                    <a:ext uri="{9D8B030D-6E8A-4147-A177-3AD203B41FA5}">
                      <a16:colId xmlns:a16="http://schemas.microsoft.com/office/drawing/2014/main" val="4253764632"/>
                    </a:ext>
                  </a:extLst>
                </a:gridCol>
              </a:tblGrid>
              <a:tr h="493671">
                <a:tc>
                  <a:txBody>
                    <a:bodyPr/>
                    <a:lstStyle/>
                    <a:p>
                      <a:pPr>
                        <a:buNone/>
                      </a:pPr>
                      <a:r>
                        <a:rPr lang="en-US" sz="1100" b="1" dirty="0">
                          <a:latin typeface="Poppins" panose="00000500000000000000" pitchFamily="2" charset="0"/>
                          <a:cs typeface="Poppins" panose="00000500000000000000" pitchFamily="2" charset="0"/>
                        </a:rPr>
                        <a:t>Data</a:t>
                      </a:r>
                    </a:p>
                  </a:txBody>
                  <a:tcPr anchor="ctr"/>
                </a:tc>
                <a:tc>
                  <a:txBody>
                    <a:bodyPr/>
                    <a:lstStyle/>
                    <a:p>
                      <a:pPr>
                        <a:buNone/>
                      </a:pPr>
                      <a:r>
                        <a:rPr lang="en-US" sz="1100" b="1" dirty="0">
                          <a:latin typeface="Poppins" panose="00000500000000000000" pitchFamily="2" charset="0"/>
                          <a:cs typeface="Poppins" panose="00000500000000000000" pitchFamily="2" charset="0"/>
                        </a:rPr>
                        <a:t>How It’s Extracted</a:t>
                      </a:r>
                    </a:p>
                  </a:txBody>
                  <a:tcPr anchor="ctr"/>
                </a:tc>
                <a:tc>
                  <a:txBody>
                    <a:bodyPr/>
                    <a:lstStyle/>
                    <a:p>
                      <a:pPr>
                        <a:buNone/>
                      </a:pPr>
                      <a:r>
                        <a:rPr lang="en-US" sz="1100" b="1" dirty="0">
                          <a:latin typeface="Poppins" panose="00000500000000000000" pitchFamily="2" charset="0"/>
                          <a:cs typeface="Poppins" panose="00000500000000000000" pitchFamily="2" charset="0"/>
                        </a:rPr>
                        <a:t>Explanation</a:t>
                      </a:r>
                    </a:p>
                  </a:txBody>
                  <a:tcPr anchor="ctr"/>
                </a:tc>
                <a:extLst>
                  <a:ext uri="{0D108BD9-81ED-4DB2-BD59-A6C34878D82A}">
                    <a16:rowId xmlns:a16="http://schemas.microsoft.com/office/drawing/2014/main" val="742701817"/>
                  </a:ext>
                </a:extLst>
              </a:tr>
              <a:tr h="493671">
                <a:tc>
                  <a:txBody>
                    <a:bodyPr/>
                    <a:lstStyle/>
                    <a:p>
                      <a:pPr>
                        <a:buNone/>
                      </a:pPr>
                      <a:r>
                        <a:rPr lang="en-US" sz="1100" b="1">
                          <a:latin typeface="Poppins" panose="00000500000000000000" pitchFamily="2" charset="0"/>
                          <a:cs typeface="Poppins" panose="00000500000000000000" pitchFamily="2" charset="0"/>
                        </a:rPr>
                        <a:t>Title</a:t>
                      </a:r>
                    </a:p>
                  </a:txBody>
                  <a:tcPr anchor="ctr"/>
                </a:tc>
                <a:tc>
                  <a:txBody>
                    <a:bodyPr/>
                    <a:lstStyle/>
                    <a:p>
                      <a:pPr>
                        <a:buNone/>
                      </a:pPr>
                      <a:r>
                        <a:rPr lang="en-US" sz="1100">
                          <a:latin typeface="Courier New" panose="02070309020205020404" pitchFamily="49" charset="0"/>
                        </a:rPr>
                        <a:t>re.search(r'&lt;title&gt;(.*?)&lt;/title&gt;', html)</a:t>
                      </a:r>
                      <a:endParaRPr lang="en-US" sz="1100"/>
                    </a:p>
                  </a:txBody>
                  <a:tcPr anchor="ctr"/>
                </a:tc>
                <a:tc>
                  <a:txBody>
                    <a:bodyPr/>
                    <a:lstStyle/>
                    <a:p>
                      <a:pPr>
                        <a:buNone/>
                      </a:pPr>
                      <a:r>
                        <a:rPr lang="en-US" sz="1100"/>
                        <a:t>Finds </a:t>
                      </a:r>
                      <a:r>
                        <a:rPr lang="en-US" sz="1100">
                          <a:latin typeface="Courier New" panose="02070309020205020404" pitchFamily="49" charset="0"/>
                        </a:rPr>
                        <a:t>&lt;title&gt;</a:t>
                      </a:r>
                      <a:r>
                        <a:rPr lang="en-US" sz="1100"/>
                        <a:t> tag from HTML source.</a:t>
                      </a:r>
                    </a:p>
                  </a:txBody>
                  <a:tcPr anchor="ctr"/>
                </a:tc>
                <a:extLst>
                  <a:ext uri="{0D108BD9-81ED-4DB2-BD59-A6C34878D82A}">
                    <a16:rowId xmlns:a16="http://schemas.microsoft.com/office/drawing/2014/main" val="2781316252"/>
                  </a:ext>
                </a:extLst>
              </a:tr>
              <a:tr h="493671">
                <a:tc>
                  <a:txBody>
                    <a:bodyPr/>
                    <a:lstStyle/>
                    <a:p>
                      <a:pPr>
                        <a:buNone/>
                      </a:pPr>
                      <a:r>
                        <a:rPr lang="en-US" sz="1100" b="1">
                          <a:latin typeface="Poppins" panose="00000500000000000000" pitchFamily="2" charset="0"/>
                          <a:cs typeface="Poppins" panose="00000500000000000000" pitchFamily="2" charset="0"/>
                        </a:rPr>
                        <a:t>Subscribers</a:t>
                      </a:r>
                    </a:p>
                  </a:txBody>
                  <a:tcPr anchor="ctr"/>
                </a:tc>
                <a:tc>
                  <a:txBody>
                    <a:bodyPr/>
                    <a:lstStyle/>
                    <a:p>
                      <a:pPr>
                        <a:buNone/>
                      </a:pPr>
                      <a:r>
                        <a:rPr lang="en-US" sz="1100"/>
                        <a:t>Regex targeting </a:t>
                      </a:r>
                      <a:r>
                        <a:rPr lang="en-US" sz="1100">
                          <a:latin typeface="Courier New" panose="02070309020205020404" pitchFamily="49" charset="0"/>
                        </a:rPr>
                        <a:t>id="owner-sub-count"</a:t>
                      </a:r>
                      <a:endParaRPr lang="en-US" sz="1100"/>
                    </a:p>
                  </a:txBody>
                  <a:tcPr anchor="ctr"/>
                </a:tc>
                <a:tc>
                  <a:txBody>
                    <a:bodyPr/>
                    <a:lstStyle/>
                    <a:p>
                      <a:pPr>
                        <a:buNone/>
                      </a:pPr>
                      <a:r>
                        <a:rPr lang="en-US" sz="1100" dirty="0">
                          <a:latin typeface="Poppins" panose="00000500000000000000" pitchFamily="2" charset="0"/>
                          <a:cs typeface="Poppins" panose="00000500000000000000" pitchFamily="2" charset="0"/>
                        </a:rPr>
                        <a:t>Extracts channel subscriber count.</a:t>
                      </a:r>
                    </a:p>
                  </a:txBody>
                  <a:tcPr anchor="ctr"/>
                </a:tc>
                <a:extLst>
                  <a:ext uri="{0D108BD9-81ED-4DB2-BD59-A6C34878D82A}">
                    <a16:rowId xmlns:a16="http://schemas.microsoft.com/office/drawing/2014/main" val="2452984547"/>
                  </a:ext>
                </a:extLst>
              </a:tr>
              <a:tr h="493671">
                <a:tc>
                  <a:txBody>
                    <a:bodyPr/>
                    <a:lstStyle/>
                    <a:p>
                      <a:pPr>
                        <a:buNone/>
                      </a:pPr>
                      <a:r>
                        <a:rPr lang="en-US" sz="1100" b="1">
                          <a:latin typeface="Poppins" panose="00000500000000000000" pitchFamily="2" charset="0"/>
                          <a:cs typeface="Poppins" panose="00000500000000000000" pitchFamily="2" charset="0"/>
                        </a:rPr>
                        <a:t>Likes</a:t>
                      </a:r>
                    </a:p>
                  </a:txBody>
                  <a:tcPr anchor="ctr"/>
                </a:tc>
                <a:tc>
                  <a:txBody>
                    <a:bodyPr/>
                    <a:lstStyle/>
                    <a:p>
                      <a:pPr>
                        <a:buNone/>
                      </a:pPr>
                      <a:r>
                        <a:rPr lang="en-US" sz="1100"/>
                        <a:t>Regex searching for numbers inside </a:t>
                      </a:r>
                      <a:r>
                        <a:rPr lang="en-US" sz="1100">
                          <a:latin typeface="Courier New" panose="02070309020205020404" pitchFamily="49" charset="0"/>
                        </a:rPr>
                        <a:t>yt-spec-button-shape-next__button-text-content</a:t>
                      </a:r>
                      <a:endParaRPr lang="en-US" sz="1100"/>
                    </a:p>
                  </a:txBody>
                  <a:tcPr anchor="ctr"/>
                </a:tc>
                <a:tc>
                  <a:txBody>
                    <a:bodyPr/>
                    <a:lstStyle/>
                    <a:p>
                      <a:pPr>
                        <a:buNone/>
                      </a:pPr>
                      <a:r>
                        <a:rPr lang="en-US" sz="1100" dirty="0">
                          <a:latin typeface="Poppins" panose="00000500000000000000" pitchFamily="2" charset="0"/>
                          <a:cs typeface="Poppins" panose="00000500000000000000" pitchFamily="2" charset="0"/>
                        </a:rPr>
                        <a:t>Pulls like counts.</a:t>
                      </a:r>
                    </a:p>
                  </a:txBody>
                  <a:tcPr anchor="ctr"/>
                </a:tc>
                <a:extLst>
                  <a:ext uri="{0D108BD9-81ED-4DB2-BD59-A6C34878D82A}">
                    <a16:rowId xmlns:a16="http://schemas.microsoft.com/office/drawing/2014/main" val="1897499693"/>
                  </a:ext>
                </a:extLst>
              </a:tr>
              <a:tr h="493671">
                <a:tc>
                  <a:txBody>
                    <a:bodyPr/>
                    <a:lstStyle/>
                    <a:p>
                      <a:pPr>
                        <a:buNone/>
                      </a:pPr>
                      <a:r>
                        <a:rPr lang="en-US" sz="1100" b="1">
                          <a:latin typeface="Poppins" panose="00000500000000000000" pitchFamily="2" charset="0"/>
                          <a:cs typeface="Poppins" panose="00000500000000000000" pitchFamily="2" charset="0"/>
                        </a:rPr>
                        <a:t>Views</a:t>
                      </a:r>
                    </a:p>
                  </a:txBody>
                  <a:tcPr anchor="ctr"/>
                </a:tc>
                <a:tc>
                  <a:txBody>
                    <a:bodyPr/>
                    <a:lstStyle/>
                    <a:p>
                      <a:pPr>
                        <a:buNone/>
                      </a:pPr>
                      <a:r>
                        <a:rPr lang="en-US" sz="1100">
                          <a:latin typeface="Courier New" panose="02070309020205020404" pitchFamily="49" charset="0"/>
                        </a:rPr>
                        <a:t>driver.find_element(By.XPATH, '//*[@id="info"]/span[1]')</a:t>
                      </a:r>
                      <a:endParaRPr lang="en-US" sz="1100"/>
                    </a:p>
                  </a:txBody>
                  <a:tcPr anchor="ctr"/>
                </a:tc>
                <a:tc>
                  <a:txBody>
                    <a:bodyPr/>
                    <a:lstStyle/>
                    <a:p>
                      <a:pPr>
                        <a:buNone/>
                      </a:pPr>
                      <a:r>
                        <a:rPr lang="en-US" sz="1100" dirty="0">
                          <a:latin typeface="Poppins" panose="00000500000000000000" pitchFamily="2" charset="0"/>
                          <a:cs typeface="Poppins" panose="00000500000000000000" pitchFamily="2" charset="0"/>
                        </a:rPr>
                        <a:t>Locates the text showing total views.</a:t>
                      </a:r>
                    </a:p>
                  </a:txBody>
                  <a:tcPr anchor="ctr"/>
                </a:tc>
                <a:extLst>
                  <a:ext uri="{0D108BD9-81ED-4DB2-BD59-A6C34878D82A}">
                    <a16:rowId xmlns:a16="http://schemas.microsoft.com/office/drawing/2014/main" val="420884785"/>
                  </a:ext>
                </a:extLst>
              </a:tr>
              <a:tr h="493671">
                <a:tc>
                  <a:txBody>
                    <a:bodyPr/>
                    <a:lstStyle/>
                    <a:p>
                      <a:pPr>
                        <a:buNone/>
                      </a:pPr>
                      <a:r>
                        <a:rPr lang="en-US" sz="1100" b="1">
                          <a:latin typeface="Poppins" panose="00000500000000000000" pitchFamily="2" charset="0"/>
                          <a:cs typeface="Poppins" panose="00000500000000000000" pitchFamily="2" charset="0"/>
                        </a:rPr>
                        <a:t>Comments</a:t>
                      </a:r>
                    </a:p>
                  </a:txBody>
                  <a:tcPr anchor="ctr"/>
                </a:tc>
                <a:tc>
                  <a:txBody>
                    <a:bodyPr/>
                    <a:lstStyle/>
                    <a:p>
                      <a:pPr>
                        <a:buNone/>
                      </a:pPr>
                      <a:r>
                        <a:rPr lang="en-US" sz="1100"/>
                        <a:t>Scrolls down, finds element at </a:t>
                      </a:r>
                      <a:r>
                        <a:rPr lang="en-US" sz="1100">
                          <a:latin typeface="Courier New" panose="02070309020205020404" pitchFamily="49" charset="0"/>
                        </a:rPr>
                        <a:t>//*[@id='count']//span[1]</a:t>
                      </a:r>
                      <a:endParaRPr lang="en-US" sz="1100"/>
                    </a:p>
                  </a:txBody>
                  <a:tcPr anchor="ctr"/>
                </a:tc>
                <a:tc>
                  <a:txBody>
                    <a:bodyPr/>
                    <a:lstStyle/>
                    <a:p>
                      <a:pPr>
                        <a:buNone/>
                      </a:pPr>
                      <a:r>
                        <a:rPr lang="en-US" sz="1100" dirty="0">
                          <a:latin typeface="Poppins" panose="00000500000000000000" pitchFamily="2" charset="0"/>
                          <a:cs typeface="Poppins" panose="00000500000000000000" pitchFamily="2" charset="0"/>
                        </a:rPr>
                        <a:t>Loads comments section, extracts count.</a:t>
                      </a:r>
                    </a:p>
                  </a:txBody>
                  <a:tcPr anchor="ctr"/>
                </a:tc>
                <a:extLst>
                  <a:ext uri="{0D108BD9-81ED-4DB2-BD59-A6C34878D82A}">
                    <a16:rowId xmlns:a16="http://schemas.microsoft.com/office/drawing/2014/main" val="1449229314"/>
                  </a:ext>
                </a:extLst>
              </a:tr>
              <a:tr h="493671">
                <a:tc>
                  <a:txBody>
                    <a:bodyPr/>
                    <a:lstStyle/>
                    <a:p>
                      <a:pPr>
                        <a:buNone/>
                      </a:pPr>
                      <a:r>
                        <a:rPr lang="en-US" sz="1100" b="1" dirty="0">
                          <a:latin typeface="Poppins" panose="00000500000000000000" pitchFamily="2" charset="0"/>
                          <a:cs typeface="Poppins" panose="00000500000000000000" pitchFamily="2" charset="0"/>
                        </a:rPr>
                        <a:t>Description</a:t>
                      </a:r>
                    </a:p>
                  </a:txBody>
                  <a:tcPr anchor="ctr"/>
                </a:tc>
                <a:tc>
                  <a:txBody>
                    <a:bodyPr/>
                    <a:lstStyle/>
                    <a:p>
                      <a:pPr>
                        <a:buNone/>
                      </a:pPr>
                      <a:r>
                        <a:rPr lang="en-US" sz="1100"/>
                        <a:t>Finds element </a:t>
                      </a:r>
                      <a:r>
                        <a:rPr lang="en-US" sz="1100">
                          <a:latin typeface="Courier New" panose="02070309020205020404" pitchFamily="49" charset="0"/>
                        </a:rPr>
                        <a:t>id="description-inline-expander"</a:t>
                      </a:r>
                      <a:endParaRPr lang="en-US" sz="1100"/>
                    </a:p>
                  </a:txBody>
                  <a:tcPr anchor="ctr"/>
                </a:tc>
                <a:tc>
                  <a:txBody>
                    <a:bodyPr/>
                    <a:lstStyle/>
                    <a:p>
                      <a:pPr>
                        <a:buNone/>
                      </a:pPr>
                      <a:r>
                        <a:rPr lang="en-US" sz="1100" dirty="0">
                          <a:latin typeface="Poppins" panose="00000500000000000000" pitchFamily="2" charset="0"/>
                          <a:cs typeface="Poppins" panose="00000500000000000000" pitchFamily="2" charset="0"/>
                        </a:rPr>
                        <a:t>Expands “Show more” if needed and reads full text.</a:t>
                      </a:r>
                    </a:p>
                  </a:txBody>
                  <a:tcPr anchor="ctr"/>
                </a:tc>
                <a:extLst>
                  <a:ext uri="{0D108BD9-81ED-4DB2-BD59-A6C34878D82A}">
                    <a16:rowId xmlns:a16="http://schemas.microsoft.com/office/drawing/2014/main" val="4240050711"/>
                  </a:ext>
                </a:extLst>
              </a:tr>
            </a:tbl>
          </a:graphicData>
        </a:graphic>
      </p:graphicFrame>
    </p:spTree>
    <p:extLst>
      <p:ext uri="{BB962C8B-B14F-4D97-AF65-F5344CB8AC3E}">
        <p14:creationId xmlns:p14="http://schemas.microsoft.com/office/powerpoint/2010/main" val="390455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6AB83E1-68F6-CF15-4B03-C651FC9AB50E}"/>
              </a:ext>
            </a:extLst>
          </p:cNvPr>
          <p:cNvSpPr>
            <a:spLocks noGrp="1"/>
          </p:cNvSpPr>
          <p:nvPr>
            <p:ph type="subTitle" idx="1"/>
          </p:nvPr>
        </p:nvSpPr>
        <p:spPr/>
        <p:txBody>
          <a:bodyPr/>
          <a:lstStyle/>
          <a:p>
            <a:endParaRPr lang="en-US" dirty="0"/>
          </a:p>
          <a:p>
            <a:pPr>
              <a:buFont typeface="Arial" panose="020B0604020202020204" pitchFamily="34" charset="0"/>
              <a:buChar char="•"/>
            </a:pPr>
            <a:r>
              <a:rPr lang="en-US" b="1" dirty="0"/>
              <a:t>CPM</a:t>
            </a:r>
            <a:r>
              <a:rPr lang="en-US" dirty="0"/>
              <a:t> stands for </a:t>
            </a:r>
            <a:r>
              <a:rPr lang="en-US" b="1" dirty="0"/>
              <a:t>Cost Per Mille</a:t>
            </a:r>
            <a:r>
              <a:rPr lang="en-US" dirty="0"/>
              <a:t> (Mille is Latin for thousand). It is the amount an advertiser pays for one thousand views or impressions of their advertisement on a YouTube video</a:t>
            </a:r>
          </a:p>
          <a:p>
            <a:r>
              <a:rPr lang="en-US" b="1" dirty="0"/>
              <a:t>CPM Variability:</a:t>
            </a:r>
            <a:r>
              <a:rPr lang="en-US" dirty="0"/>
              <a:t> CPM is not a fixed number. It varies based on:</a:t>
            </a:r>
          </a:p>
          <a:p>
            <a:pPr lvl="1"/>
            <a:r>
              <a:rPr lang="en-US" b="1" dirty="0"/>
              <a:t>Geographic location</a:t>
            </a:r>
            <a:r>
              <a:rPr lang="en-US" dirty="0"/>
              <a:t> of the viewer (US views pay more than others).</a:t>
            </a:r>
          </a:p>
          <a:p>
            <a:pPr lvl="1"/>
            <a:r>
              <a:rPr lang="en-US" b="1" dirty="0"/>
              <a:t>Time of year</a:t>
            </a:r>
            <a:r>
              <a:rPr lang="en-US" dirty="0"/>
              <a:t> (higher during holiday seasons).</a:t>
            </a:r>
          </a:p>
          <a:p>
            <a:pPr lvl="1"/>
            <a:r>
              <a:rPr lang="en-US" b="1" dirty="0"/>
              <a:t>Content Niche</a:t>
            </a:r>
            <a:r>
              <a:rPr lang="en-US" dirty="0"/>
              <a:t> (finance videos pay more than kids' cartoons).</a:t>
            </a:r>
          </a:p>
          <a:p>
            <a:pPr lvl="1"/>
            <a:r>
              <a:rPr lang="en-US" b="1" dirty="0"/>
              <a:t>Ad format</a:t>
            </a:r>
            <a:r>
              <a:rPr lang="en-US" dirty="0"/>
              <a:t> (skippable vs. non-skippable ads).</a:t>
            </a:r>
          </a:p>
        </p:txBody>
      </p:sp>
      <p:sp>
        <p:nvSpPr>
          <p:cNvPr id="3" name="Title 2">
            <a:extLst>
              <a:ext uri="{FF2B5EF4-FFF2-40B4-BE49-F238E27FC236}">
                <a16:creationId xmlns:a16="http://schemas.microsoft.com/office/drawing/2014/main" id="{9B88E345-517B-66FE-BC04-18394A43CE40}"/>
              </a:ext>
            </a:extLst>
          </p:cNvPr>
          <p:cNvSpPr>
            <a:spLocks noGrp="1"/>
          </p:cNvSpPr>
          <p:nvPr>
            <p:ph type="title"/>
          </p:nvPr>
        </p:nvSpPr>
        <p:spPr/>
        <p:txBody>
          <a:bodyPr/>
          <a:lstStyle/>
          <a:p>
            <a:r>
              <a:rPr lang="en-US" dirty="0"/>
              <a:t>Understanding CPM and Estimating YouTube Revenue</a:t>
            </a:r>
          </a:p>
        </p:txBody>
      </p:sp>
    </p:spTree>
    <p:extLst>
      <p:ext uri="{BB962C8B-B14F-4D97-AF65-F5344CB8AC3E}">
        <p14:creationId xmlns:p14="http://schemas.microsoft.com/office/powerpoint/2010/main" val="3596795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Subtitle 1">
                <a:extLst>
                  <a:ext uri="{FF2B5EF4-FFF2-40B4-BE49-F238E27FC236}">
                    <a16:creationId xmlns:a16="http://schemas.microsoft.com/office/drawing/2014/main" id="{51EA9552-B485-2442-3F19-3D201E67A843}"/>
                  </a:ext>
                </a:extLst>
              </p:cNvPr>
              <p:cNvSpPr>
                <a:spLocks noGrp="1"/>
              </p:cNvSpPr>
              <p:nvPr>
                <p:ph type="subTitle" idx="1"/>
              </p:nvPr>
            </p:nvSpPr>
            <p:spPr/>
            <p:txBody>
              <a:bodyPr/>
              <a:lstStyle/>
              <a:p>
                <a:pPr>
                  <a:buFont typeface="Arial" panose="020B0604020202020204" pitchFamily="34" charset="0"/>
                  <a:buChar char="•"/>
                </a:pPr>
                <a:endParaRPr lang="en-US" b="1" dirty="0"/>
              </a:p>
              <a:p>
                <a:pPr>
                  <a:buFont typeface="Arial" panose="020B0604020202020204" pitchFamily="34" charset="0"/>
                  <a:buChar char="•"/>
                </a:pPr>
                <a:r>
                  <a:rPr lang="en-US" b="1" dirty="0"/>
                  <a:t>Views - Primary Driver</a:t>
                </a:r>
                <a:r>
                  <a:rPr lang="en-US" dirty="0"/>
                  <a:t>: The core number used in all revenue calculations. More views = more ad impressions = more revenue potential.</a:t>
                </a:r>
              </a:p>
              <a:p>
                <a:pPr>
                  <a:buFont typeface="Arial" panose="020B0604020202020204" pitchFamily="34" charset="0"/>
                  <a:buChar char="•"/>
                </a:pPr>
                <a:r>
                  <a:rPr lang="en-US" b="1" dirty="0"/>
                  <a:t>Subscribers - Audience Health</a:t>
                </a:r>
                <a:r>
                  <a:rPr lang="en-US" dirty="0"/>
                  <a:t>: A high subscriber count suggests a consistent audience, which implies future stable views and can attract advertisers indirectly.</a:t>
                </a:r>
              </a:p>
              <a:p>
                <a:pPr>
                  <a:buFont typeface="Arial" panose="020B0604020202020204" pitchFamily="34" charset="0"/>
                  <a:buChar char="•"/>
                </a:pPr>
                <a:r>
                  <a:rPr lang="en-US" b="1" dirty="0"/>
                  <a:t>comments, likes, shares - Engagement Signal</a:t>
                </a:r>
                <a:r>
                  <a:rPr lang="en-US" dirty="0"/>
                  <a:t>: High engagement rates suggest quality, watchable content that viewers enjoy. Engaged audiences often have better watch times, which allows for more ads (e.g., mid-roll ads), boosting potential CPM/RPM</a:t>
                </a:r>
                <a:r>
                  <a:rPr lang="en-US" b="1" dirty="0"/>
                  <a:t> </a:t>
                </a:r>
              </a:p>
              <a:p>
                <a:pPr>
                  <a:buFont typeface="Arial" panose="020B0604020202020204" pitchFamily="34" charset="0"/>
                  <a:buChar char="•"/>
                </a:pPr>
                <a:r>
                  <a:rPr lang="en-US" b="1" dirty="0"/>
                  <a:t>The Formula: Total Views to Estimated Earnings</a:t>
                </a:r>
              </a:p>
              <a:p>
                <a:pPr lvl="1">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𝐸𝑠𝑡𝑖𝑚𝑎𝑡𝑒𝑑</m:t>
                    </m:r>
                    <m:r>
                      <a:rPr lang="en-US" b="0" i="1" smtClean="0">
                        <a:latin typeface="Cambria Math" panose="02040503050406030204" pitchFamily="18" charset="0"/>
                      </a:rPr>
                      <m:t> </m:t>
                    </m:r>
                    <m:r>
                      <a:rPr lang="en-US" b="0" i="1" smtClean="0">
                        <a:latin typeface="Cambria Math" panose="02040503050406030204" pitchFamily="18" charset="0"/>
                      </a:rPr>
                      <m:t>𝑅𝑒𝑣𝑒𝑛𝑢𝑒</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𝑇𝑜𝑡𝑎𝑙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𝑉𝑖𝑒𝑤𝑠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𝐴𝑣𝑒𝑟𝑎𝑔𝑒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𝐸𝑎𝑟𝑛𝑖𝑛𝑔𝑠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𝑃𝑒𝑟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𝑉𝑖𝑒𝑤</m:t>
                    </m:r>
                  </m:oMath>
                </a14:m>
                <a:endParaRPr lang="en-US" dirty="0"/>
              </a:p>
              <a:p>
                <a:pPr>
                  <a:buFont typeface="Arial" panose="020B0604020202020204" pitchFamily="34" charset="0"/>
                  <a:buChar char="•"/>
                </a:pPr>
                <a:r>
                  <a:rPr lang="en-US" dirty="0"/>
                  <a:t>Based on general industry data, YouTube creators typically earn between </a:t>
                </a:r>
                <a:r>
                  <a:rPr lang="en-US" b="1" dirty="0"/>
                  <a:t>$0.002 to $0.012 per view</a:t>
                </a:r>
                <a:r>
                  <a:rPr lang="en-US" dirty="0"/>
                  <a:t> (after YouTube's 45% cut)(</a:t>
                </a:r>
                <a:r>
                  <a:rPr lang="en-US" dirty="0">
                    <a:hlinkClick r:id="rId2"/>
                  </a:rPr>
                  <a:t>Reference</a:t>
                </a:r>
                <a:r>
                  <a:rPr lang="en-US" dirty="0"/>
                  <a:t>)</a:t>
                </a:r>
              </a:p>
            </p:txBody>
          </p:sp>
        </mc:Choice>
        <mc:Fallback>
          <p:sp>
            <p:nvSpPr>
              <p:cNvPr id="2" name="Subtitle 1">
                <a:extLst>
                  <a:ext uri="{FF2B5EF4-FFF2-40B4-BE49-F238E27FC236}">
                    <a16:creationId xmlns:a16="http://schemas.microsoft.com/office/drawing/2014/main" id="{51EA9552-B485-2442-3F19-3D201E67A843}"/>
                  </a:ext>
                </a:extLst>
              </p:cNvPr>
              <p:cNvSpPr>
                <a:spLocks noGrp="1" noRot="1" noChangeAspect="1" noMove="1" noResize="1" noEditPoints="1" noAdjustHandles="1" noChangeArrowheads="1" noChangeShapeType="1" noTextEdit="1"/>
              </p:cNvSpPr>
              <p:nvPr>
                <p:ph type="subTitle" idx="1"/>
              </p:nvPr>
            </p:nvSpPr>
            <p:spPr>
              <a:blipFill>
                <a:blip r:embed="rId3"/>
                <a:stretch>
                  <a:fillRect r="-553" b="-388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EBF7413-C039-31E6-9621-AD675494260A}"/>
              </a:ext>
            </a:extLst>
          </p:cNvPr>
          <p:cNvSpPr>
            <a:spLocks noGrp="1"/>
          </p:cNvSpPr>
          <p:nvPr>
            <p:ph type="title"/>
          </p:nvPr>
        </p:nvSpPr>
        <p:spPr/>
        <p:txBody>
          <a:bodyPr/>
          <a:lstStyle/>
          <a:p>
            <a:r>
              <a:rPr lang="en-US" dirty="0"/>
              <a:t>Understanding CPM and Estimating YouTube Revenue</a:t>
            </a:r>
          </a:p>
        </p:txBody>
      </p:sp>
    </p:spTree>
    <p:extLst>
      <p:ext uri="{BB962C8B-B14F-4D97-AF65-F5344CB8AC3E}">
        <p14:creationId xmlns:p14="http://schemas.microsoft.com/office/powerpoint/2010/main" val="2504595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827A84-9210-67B7-289B-E4118D8DA36F}"/>
              </a:ext>
            </a:extLst>
          </p:cNvPr>
          <p:cNvSpPr>
            <a:spLocks noGrp="1"/>
          </p:cNvSpPr>
          <p:nvPr>
            <p:ph type="ctrTitle"/>
          </p:nvPr>
        </p:nvSpPr>
        <p:spPr/>
        <p:txBody>
          <a:bodyPr/>
          <a:lstStyle/>
          <a:p>
            <a:r>
              <a:rPr lang="en-US"/>
              <a:t>Thank You</a:t>
            </a:r>
          </a:p>
        </p:txBody>
      </p:sp>
      <p:sp>
        <p:nvSpPr>
          <p:cNvPr id="5" name="Subtitle 4">
            <a:extLst>
              <a:ext uri="{FF2B5EF4-FFF2-40B4-BE49-F238E27FC236}">
                <a16:creationId xmlns:a16="http://schemas.microsoft.com/office/drawing/2014/main" id="{24C6E971-8BB4-0E1D-818B-4845590BD1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39097851"/>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757</TotalTime>
  <Words>1493</Words>
  <Application>Microsoft Office PowerPoint</Application>
  <PresentationFormat>On-screen Show (16:9)</PresentationFormat>
  <Paragraphs>171</Paragraphs>
  <Slides>18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Calibri</vt:lpstr>
      <vt:lpstr>Open Sans</vt:lpstr>
      <vt:lpstr>Poppins</vt:lpstr>
      <vt:lpstr>Arial</vt:lpstr>
      <vt:lpstr>Cambria Math</vt:lpstr>
      <vt:lpstr>Roboto Condensed Light</vt:lpstr>
      <vt:lpstr>IBM Plex Mono Medium</vt:lpstr>
      <vt:lpstr>IBM Plex Mono</vt:lpstr>
      <vt:lpstr>Courier New</vt:lpstr>
      <vt:lpstr>Introduction to Coding Workshop by Slidesgo</vt:lpstr>
      <vt:lpstr>YouTube Data Extraction and Automation Workshop</vt:lpstr>
      <vt:lpstr>Agenda</vt:lpstr>
      <vt:lpstr>WARNING!</vt:lpstr>
      <vt:lpstr>GitHub link</vt:lpstr>
      <vt:lpstr>Tools and Environment</vt:lpstr>
      <vt:lpstr>Obtaining YouTube API key</vt:lpstr>
      <vt:lpstr>What is the YouTube Data API?</vt:lpstr>
      <vt:lpstr>Capabilities</vt:lpstr>
      <vt:lpstr>First Step: Searching top Channels in Indonesia</vt:lpstr>
      <vt:lpstr>Fetching channels</vt:lpstr>
      <vt:lpstr>Fetching Video details</vt:lpstr>
      <vt:lpstr>Fetching Video details</vt:lpstr>
      <vt:lpstr>Selenium based video URL fetching</vt:lpstr>
      <vt:lpstr>Extracting video details without API</vt:lpstr>
      <vt:lpstr>Data Extraction</vt:lpstr>
      <vt:lpstr>Understanding CPM and Estimating YouTube Revenue</vt:lpstr>
      <vt:lpstr>Understanding CPM and Estimating YouTube Revenue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Arindam Misra</dc:creator>
  <cp:lastModifiedBy>Arindam Misra</cp:lastModifiedBy>
  <cp:revision>45</cp:revision>
  <dcterms:modified xsi:type="dcterms:W3CDTF">2025-11-04T23:33:56Z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1bf45b6-5649-4236-82a3-f45024cd282e_Enabled">
    <vt:lpwstr>true</vt:lpwstr>
  </property>
  <property fmtid="{D5CDD505-2E9C-101B-9397-08002B2CF9AE}" pid="3" name="MSIP_Label_f1bf45b6-5649-4236-82a3-f45024cd282e_SetDate">
    <vt:lpwstr>2025-11-03T06:36:31Z</vt:lpwstr>
  </property>
  <property fmtid="{D5CDD505-2E9C-101B-9397-08002B2CF9AE}" pid="4" name="MSIP_Label_f1bf45b6-5649-4236-82a3-f45024cd282e_Method">
    <vt:lpwstr>Standard</vt:lpwstr>
  </property>
  <property fmtid="{D5CDD505-2E9C-101B-9397-08002B2CF9AE}" pid="5" name="MSIP_Label_f1bf45b6-5649-4236-82a3-f45024cd282e_Name">
    <vt:lpwstr>Official Use Only</vt:lpwstr>
  </property>
  <property fmtid="{D5CDD505-2E9C-101B-9397-08002B2CF9AE}" pid="6" name="MSIP_Label_f1bf45b6-5649-4236-82a3-f45024cd282e_SiteId">
    <vt:lpwstr>31a2fec0-266b-4c67-b56e-2796d8f59c36</vt:lpwstr>
  </property>
  <property fmtid="{D5CDD505-2E9C-101B-9397-08002B2CF9AE}" pid="7" name="MSIP_Label_f1bf45b6-5649-4236-82a3-f45024cd282e_ActionId">
    <vt:lpwstr>2c190e82-00c1-44d0-a8bd-278f41dbf863</vt:lpwstr>
  </property>
  <property fmtid="{D5CDD505-2E9C-101B-9397-08002B2CF9AE}" pid="8" name="MSIP_Label_f1bf45b6-5649-4236-82a3-f45024cd282e_ContentBits">
    <vt:lpwstr>2</vt:lpwstr>
  </property>
  <property fmtid="{D5CDD505-2E9C-101B-9397-08002B2CF9AE}" pid="9" name="MSIP_Label_f1bf45b6-5649-4236-82a3-f45024cd282e_Tag">
    <vt:lpwstr>10, 3, 0, 1</vt:lpwstr>
  </property>
  <property fmtid="{D5CDD505-2E9C-101B-9397-08002B2CF9AE}" pid="10" name="ClassificationContentMarkingFooterLocations">
    <vt:lpwstr>Introduction to Coding Workshop by Slidesgo:3\Slidesgo Final Pages:3</vt:lpwstr>
  </property>
  <property fmtid="{D5CDD505-2E9C-101B-9397-08002B2CF9AE}" pid="11" name="ClassificationContentMarkingFooterText">
    <vt:lpwstr>Official Use Only</vt:lpwstr>
  </property>
</Properties>
</file>