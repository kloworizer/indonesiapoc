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80" r:id="rId1"/>
  </p:sldMasterIdLst>
  <p:notesMasterIdLst>
    <p:notesMasterId r:id="rId16"/>
  </p:notesMasterIdLst>
  <p:sldIdLst>
    <p:sldId id="256" r:id="rId2"/>
    <p:sldId id="257" r:id="rId3"/>
    <p:sldId id="261" r:id="rId4"/>
    <p:sldId id="337" r:id="rId5"/>
    <p:sldId id="312" r:id="rId6"/>
    <p:sldId id="351" r:id="rId7"/>
    <p:sldId id="352" r:id="rId8"/>
    <p:sldId id="353" r:id="rId9"/>
    <p:sldId id="350" r:id="rId10"/>
    <p:sldId id="354" r:id="rId11"/>
    <p:sldId id="357" r:id="rId12"/>
    <p:sldId id="355" r:id="rId13"/>
    <p:sldId id="356" r:id="rId14"/>
    <p:sldId id="336" r:id="rId15"/>
  </p:sldIdLst>
  <p:sldSz cx="9144000" cy="5143500" type="screen16x9"/>
  <p:notesSz cx="6858000" cy="9144000"/>
  <p:embeddedFontLst>
    <p:embeddedFont>
      <p:font typeface="IBM Plex Mono" panose="020B0509050203000203" pitchFamily="49" charset="0"/>
      <p:regular r:id="rId17"/>
      <p:bold r:id="rId18"/>
      <p:italic r:id="rId19"/>
      <p:boldItalic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  <p:embeddedFont>
      <p:font typeface="Roboto Condensed Light" panose="02000000000000000000" pitchFamily="2" charset="0"/>
      <p:regular r:id="rId29"/>
      <p: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3ADA68B-9DE3-4D22-A44F-E6205B1A7E7C}">
  <a:tblStyle styleId="{D3ADA68B-9DE3-4D22-A44F-E6205B1A7E7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5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4ed99bf1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4ed99bf1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g24ed99bf1a4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24ed99bf1a4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4"/>
          <p:cNvSpPr txBox="1">
            <a:spLocks noGrp="1"/>
          </p:cNvSpPr>
          <p:nvPr>
            <p:ph type="body" idx="1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143" name="Google Shape;143;p4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144" name="Google Shape;144;p4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5" name="Google Shape;145;p4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46" name="Google Shape;146;p4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8" name="Google Shape;148;p4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" name="Google Shape;149;p4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50" name="Google Shape;150;p4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1" name="Google Shape;151;p4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52" name="Google Shape;152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" name="Google Shape;153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4" name="Google Shape;154;p4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5" name="Google Shape;155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" name="Google Shape;156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7" name="Google Shape;157;p4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8" name="Google Shape;158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" name="Google Shape;159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60" name="Google Shape;160;p4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161" name="Google Shape;161;p4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" name="Google Shape;163;p4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164" name="Google Shape;164;p4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65" name="Google Shape;165;p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8" name="Google Shape;168;p4"/>
            <p:cNvSpPr/>
            <p:nvPr/>
          </p:nvSpPr>
          <p:spPr>
            <a:xfrm>
              <a:off x="152767" y="-5725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-6579" y="-57316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" name="Google Shape;170;p4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71" name="Google Shape;171;p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"/>
          <p:cNvSpPr txBox="1">
            <a:spLocks noGrp="1"/>
          </p:cNvSpPr>
          <p:nvPr>
            <p:ph type="subTitle" idx="1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>
            <a:endParaRPr/>
          </a:p>
        </p:txBody>
      </p:sp>
      <p:sp>
        <p:nvSpPr>
          <p:cNvPr id="340" name="Google Shape;340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41" name="Google Shape;341;p7"/>
          <p:cNvGrpSpPr/>
          <p:nvPr/>
        </p:nvGrpSpPr>
        <p:grpSpPr>
          <a:xfrm>
            <a:off x="8934675" y="3943438"/>
            <a:ext cx="439200" cy="439100"/>
            <a:chOff x="1101075" y="2142375"/>
            <a:chExt cx="439200" cy="439100"/>
          </a:xfrm>
        </p:grpSpPr>
        <p:sp>
          <p:nvSpPr>
            <p:cNvPr id="342" name="Google Shape;342;p7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" name="Google Shape;344;p7"/>
          <p:cNvGrpSpPr/>
          <p:nvPr/>
        </p:nvGrpSpPr>
        <p:grpSpPr>
          <a:xfrm>
            <a:off x="5481594" y="-3117615"/>
            <a:ext cx="5954334" cy="6142759"/>
            <a:chOff x="5329194" y="-2965215"/>
            <a:chExt cx="5954334" cy="6142759"/>
          </a:xfrm>
        </p:grpSpPr>
        <p:sp>
          <p:nvSpPr>
            <p:cNvPr id="345" name="Google Shape;345;p7"/>
            <p:cNvSpPr/>
            <p:nvPr/>
          </p:nvSpPr>
          <p:spPr>
            <a:xfrm rot="-2700000">
              <a:off x="6677338" y="-2306933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 rot="-2700000">
              <a:off x="6782013" y="-2600033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7" name="Google Shape;347;p7"/>
            <p:cNvGrpSpPr/>
            <p:nvPr/>
          </p:nvGrpSpPr>
          <p:grpSpPr>
            <a:xfrm rot="10800000">
              <a:off x="5710125" y="185651"/>
              <a:ext cx="4558967" cy="134100"/>
              <a:chOff x="796100" y="3019701"/>
              <a:chExt cx="4558967" cy="134100"/>
            </a:xfrm>
          </p:grpSpPr>
          <p:sp>
            <p:nvSpPr>
              <p:cNvPr id="348" name="Google Shape;348;p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49" name="Google Shape;349;p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0" name="Google Shape;350;p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1" name="Google Shape;351;p7"/>
          <p:cNvGrpSpPr/>
          <p:nvPr/>
        </p:nvGrpSpPr>
        <p:grpSpPr>
          <a:xfrm flipH="1">
            <a:off x="-503516" y="3986929"/>
            <a:ext cx="5249359" cy="2992224"/>
            <a:chOff x="-258616" y="3430829"/>
            <a:chExt cx="5249359" cy="2992224"/>
          </a:xfrm>
        </p:grpSpPr>
        <p:pic>
          <p:nvPicPr>
            <p:cNvPr id="352" name="Google Shape;352;p7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7"/>
            <p:cNvSpPr/>
            <p:nvPr/>
          </p:nvSpPr>
          <p:spPr>
            <a:xfrm>
              <a:off x="363250" y="4667754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941424" y="4724302"/>
              <a:ext cx="340329" cy="325895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20562" y="49581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1299000" y="46085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8" name="Google Shape;358;p7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359" name="Google Shape;359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1" name="Google Shape;361;p7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362" name="Google Shape;362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4"/>
          <p:cNvSpPr txBox="1">
            <a:spLocks noGrp="1"/>
          </p:cNvSpPr>
          <p:nvPr>
            <p:ph type="title"/>
          </p:nvPr>
        </p:nvSpPr>
        <p:spPr>
          <a:xfrm>
            <a:off x="713225" y="3349250"/>
            <a:ext cx="6691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6" name="Google Shape;546;p14"/>
          <p:cNvSpPr txBox="1">
            <a:spLocks noGrp="1"/>
          </p:cNvSpPr>
          <p:nvPr>
            <p:ph type="subTitle" idx="1"/>
          </p:nvPr>
        </p:nvSpPr>
        <p:spPr>
          <a:xfrm>
            <a:off x="713225" y="1511313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9" name="Google Shape;1339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0" name="Google Shape;1340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1" name="Google Shape;1341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5" name="Google Shape;1345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6" name="Google Shape;1346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7" name="Google Shape;1347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8" name="Google Shape;1348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9" name="Google Shape;1349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0" name="Google Shape;1350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1" name="Google Shape;1351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3" name="Google Shape;1353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4" name="Google Shape;1354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5" name="Google Shape;1355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6" name="Google Shape;1356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8" name="Google Shape;1358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59" name="Google Shape;1359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6" name="Google Shape;1366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7" name="Google Shape;1367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4" name="Google Shape;1374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5" name="Google Shape;1375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8" name="Google Shape;1378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79" name="Google Shape;1379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0" name="Google Shape;1380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1" name="Google Shape;1381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2" name="Google Shape;1382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3" name="Google Shape;1383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4" name="Google Shape;1384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5" name="Google Shape;1385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6" name="Google Shape;1386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8" name="Google Shape;1388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89" name="Google Shape;1389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0" name="Google Shape;1390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1" name="Google Shape;1391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2" name="Google Shape;1392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3" name="Google Shape;1393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4" name="Google Shape;1394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0" name="Google Shape;1400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1" name="Google Shape;1401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2" name="Google Shape;1402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8" name="Google Shape;1408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9" name="Google Shape;1409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0" name="Google Shape;1410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6" name="Google Shape;1416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7" name="Google Shape;1417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8" name="Google Shape;1418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19" name="Google Shape;1419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0EA278-43EA-DF61-305D-E47AAEC107B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232775" y="4927600"/>
            <a:ext cx="8763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 Use Only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8" r:id="rId4"/>
    <p:sldLayoutId id="2147483660" r:id="rId5"/>
    <p:sldLayoutId id="2147483676" r:id="rId6"/>
    <p:sldLayoutId id="2147483677" r:id="rId7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yunialtafiyah07/scrape-product-of-a-shop-in-tokopedia-e58b50688e23" TargetMode="External"/><Relationship Id="rId2" Type="http://schemas.openxmlformats.org/officeDocument/2006/relationships/hyperlink" Target="https://github.com/hilmiazizi/tokopaedi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35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World Bank</a:t>
            </a:r>
            <a:endParaRPr dirty="0"/>
          </a:p>
        </p:txBody>
      </p:sp>
      <p:sp>
        <p:nvSpPr>
          <p:cNvPr id="1431" name="Google Shape;1431;p35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E-Commerce Data Extraction and Automation Workshop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1432" name="Google Shape;1432;p35"/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433" name="Google Shape;1433;p35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4" name="Google Shape;1434;p35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35" name="Google Shape;1435;p35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35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7" name="Google Shape;1437;p35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8" name="Google Shape;1438;p35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39" name="Google Shape;1439;p35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0" name="Google Shape;1440;p35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1" name="Google Shape;1441;p35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42" name="Google Shape;1442;p35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3" name="Google Shape;1443;p35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44" name="Google Shape;1444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35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7" name="Google Shape;1447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9" name="Google Shape;1449;p35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50" name="Google Shape;1450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2" name="Google Shape;1452;p35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6743C62-B7FD-2018-8E23-FC2A6C309352}"/>
              </a:ext>
            </a:extLst>
          </p:cNvPr>
          <p:cNvSpPr txBox="1"/>
          <p:nvPr/>
        </p:nvSpPr>
        <p:spPr>
          <a:xfrm>
            <a:off x="1102611" y="4452842"/>
            <a:ext cx="67835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Day 3 | Advanced Analytics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1458" name="Google Shape;1458;p36"/>
          <p:cNvSpPr txBox="1">
            <a:spLocks noGrp="1"/>
          </p:cNvSpPr>
          <p:nvPr>
            <p:ph type="body" idx="1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graphicFrame>
        <p:nvGraphicFramePr>
          <p:cNvPr id="1459" name="Google Shape;1459;p36"/>
          <p:cNvGraphicFramePr/>
          <p:nvPr>
            <p:extLst>
              <p:ext uri="{D42A27DB-BD31-4B8C-83A1-F6EECF244321}">
                <p14:modId xmlns:p14="http://schemas.microsoft.com/office/powerpoint/2010/main" val="971657254"/>
              </p:ext>
            </p:extLst>
          </p:nvPr>
        </p:nvGraphicFramePr>
        <p:xfrm>
          <a:off x="719999" y="1614825"/>
          <a:ext cx="7703999" cy="2290866"/>
        </p:xfrm>
        <a:graphic>
          <a:graphicData uri="http://schemas.openxmlformats.org/drawingml/2006/table">
            <a:tbl>
              <a:tblPr>
                <a:noFill/>
                <a:tableStyleId>{D3ADA68B-9DE3-4D22-A44F-E6205B1A7E7C}</a:tableStyleId>
              </a:tblPr>
              <a:tblGrid>
                <a:gridCol w="7703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59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Source Repositories</a:t>
                      </a:r>
                      <a:endParaRPr sz="900" b="1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2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Use of </a:t>
                      </a:r>
                      <a:r>
                        <a:rPr lang="en-US" sz="900" b="1" dirty="0" err="1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GraphQL</a:t>
                      </a: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API endpoints</a:t>
                      </a:r>
                      <a:endParaRPr sz="900" b="1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59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Creating Multiple Profiles and randomized ‘fingerprint’ selection</a:t>
                      </a:r>
                      <a:endParaRPr sz="900" b="1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59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 fields obtained from API response 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2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Searching Tokopedia for building shop repository</a:t>
                      </a:r>
                      <a:endParaRPr sz="900" b="1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2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Two approaches to estimation of Revenue of listed shops</a:t>
                      </a:r>
                      <a:endParaRPr sz="900" b="1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5" name="Google Shape;1545;p40"/>
          <p:cNvGrpSpPr/>
          <p:nvPr/>
        </p:nvGrpSpPr>
        <p:grpSpPr>
          <a:xfrm>
            <a:off x="-2765817" y="-2958610"/>
            <a:ext cx="8164418" cy="6343459"/>
            <a:chOff x="-2613417" y="-2806210"/>
            <a:chExt cx="8164418" cy="6343459"/>
          </a:xfrm>
        </p:grpSpPr>
        <p:grpSp>
          <p:nvGrpSpPr>
            <p:cNvPr id="1546" name="Google Shape;1546;p40"/>
            <p:cNvGrpSpPr/>
            <p:nvPr/>
          </p:nvGrpSpPr>
          <p:grpSpPr>
            <a:xfrm>
              <a:off x="-2613417" y="-2806210"/>
              <a:ext cx="8164418" cy="6343459"/>
              <a:chOff x="-2613417" y="-2806210"/>
              <a:chExt cx="8164418" cy="6343459"/>
            </a:xfrm>
          </p:grpSpPr>
          <p:grpSp>
            <p:nvGrpSpPr>
              <p:cNvPr id="1547" name="Google Shape;1547;p40"/>
              <p:cNvGrpSpPr/>
              <p:nvPr/>
            </p:nvGrpSpPr>
            <p:grpSpPr>
              <a:xfrm>
                <a:off x="-191059" y="95963"/>
                <a:ext cx="1538562" cy="971589"/>
                <a:chOff x="-191059" y="95963"/>
                <a:chExt cx="1538562" cy="971589"/>
              </a:xfrm>
            </p:grpSpPr>
            <p:grpSp>
              <p:nvGrpSpPr>
                <p:cNvPr id="1548" name="Google Shape;1548;p40"/>
                <p:cNvGrpSpPr/>
                <p:nvPr/>
              </p:nvGrpSpPr>
              <p:grpSpPr>
                <a:xfrm>
                  <a:off x="-191059" y="201619"/>
                  <a:ext cx="904284" cy="865933"/>
                  <a:chOff x="2038491" y="-937756"/>
                  <a:chExt cx="904284" cy="865933"/>
                </a:xfrm>
              </p:grpSpPr>
              <p:grpSp>
                <p:nvGrpSpPr>
                  <p:cNvPr id="1549" name="Google Shape;1549;p40"/>
                  <p:cNvGrpSpPr/>
                  <p:nvPr/>
                </p:nvGrpSpPr>
                <p:grpSpPr>
                  <a:xfrm>
                    <a:off x="2096570" y="-863491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550" name="Google Shape;1550;p40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1" name="Google Shape;1551;p40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2" name="Google Shape;1552;p40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3" name="Google Shape;1553;p40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4" name="Google Shape;1554;p40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1555" name="Google Shape;1555;p40"/>
                  <p:cNvSpPr/>
                  <p:nvPr/>
                </p:nvSpPr>
                <p:spPr>
                  <a:xfrm>
                    <a:off x="2038491" y="-937756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0C0A9E">
                          <a:alpha val="2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556" name="Google Shape;1556;p40"/>
                <p:cNvGrpSpPr/>
                <p:nvPr/>
              </p:nvGrpSpPr>
              <p:grpSpPr>
                <a:xfrm>
                  <a:off x="584533" y="95963"/>
                  <a:ext cx="473483" cy="453403"/>
                  <a:chOff x="2038491" y="-937756"/>
                  <a:chExt cx="904284" cy="865933"/>
                </a:xfrm>
              </p:grpSpPr>
              <p:grpSp>
                <p:nvGrpSpPr>
                  <p:cNvPr id="1557" name="Google Shape;1557;p40"/>
                  <p:cNvGrpSpPr/>
                  <p:nvPr/>
                </p:nvGrpSpPr>
                <p:grpSpPr>
                  <a:xfrm>
                    <a:off x="2096570" y="-863491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558" name="Google Shape;1558;p40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9" name="Google Shape;1559;p40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0" name="Google Shape;1560;p40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1" name="Google Shape;1561;p40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2" name="Google Shape;1562;p40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1563" name="Google Shape;1563;p40"/>
                  <p:cNvSpPr/>
                  <p:nvPr/>
                </p:nvSpPr>
                <p:spPr>
                  <a:xfrm>
                    <a:off x="2038491" y="-937756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0C0A9E">
                          <a:alpha val="2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564" name="Google Shape;1564;p40"/>
                <p:cNvGrpSpPr/>
                <p:nvPr/>
              </p:nvGrpSpPr>
              <p:grpSpPr>
                <a:xfrm>
                  <a:off x="530445" y="481913"/>
                  <a:ext cx="473483" cy="453403"/>
                  <a:chOff x="2038491" y="-937756"/>
                  <a:chExt cx="904284" cy="865933"/>
                </a:xfrm>
              </p:grpSpPr>
              <p:grpSp>
                <p:nvGrpSpPr>
                  <p:cNvPr id="1565" name="Google Shape;1565;p40"/>
                  <p:cNvGrpSpPr/>
                  <p:nvPr/>
                </p:nvGrpSpPr>
                <p:grpSpPr>
                  <a:xfrm>
                    <a:off x="2096570" y="-863491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566" name="Google Shape;1566;p40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7" name="Google Shape;1567;p40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8" name="Google Shape;1568;p40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9" name="Google Shape;1569;p40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0" name="Google Shape;1570;p40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1571" name="Google Shape;1571;p40"/>
                  <p:cNvSpPr/>
                  <p:nvPr/>
                </p:nvSpPr>
                <p:spPr>
                  <a:xfrm>
                    <a:off x="2038491" y="-937756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0C0A9E">
                          <a:alpha val="2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572" name="Google Shape;1572;p40"/>
                <p:cNvGrpSpPr/>
                <p:nvPr/>
              </p:nvGrpSpPr>
              <p:grpSpPr>
                <a:xfrm>
                  <a:off x="874020" y="312788"/>
                  <a:ext cx="473483" cy="453403"/>
                  <a:chOff x="2038491" y="-937756"/>
                  <a:chExt cx="904284" cy="865933"/>
                </a:xfrm>
              </p:grpSpPr>
              <p:grpSp>
                <p:nvGrpSpPr>
                  <p:cNvPr id="1573" name="Google Shape;1573;p40"/>
                  <p:cNvGrpSpPr/>
                  <p:nvPr/>
                </p:nvGrpSpPr>
                <p:grpSpPr>
                  <a:xfrm>
                    <a:off x="2096570" y="-863491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574" name="Google Shape;1574;p40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5" name="Google Shape;1575;p40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6" name="Google Shape;1576;p40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7" name="Google Shape;1577;p40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8" name="Google Shape;1578;p40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1579" name="Google Shape;1579;p40"/>
                  <p:cNvSpPr/>
                  <p:nvPr/>
                </p:nvSpPr>
                <p:spPr>
                  <a:xfrm>
                    <a:off x="2038491" y="-937756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0C0A9E">
                          <a:alpha val="2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580" name="Google Shape;1580;p40"/>
              <p:cNvGrpSpPr/>
              <p:nvPr/>
            </p:nvGrpSpPr>
            <p:grpSpPr>
              <a:xfrm rot="-7479050">
                <a:off x="-2051246" y="-1642948"/>
                <a:ext cx="4889863" cy="3931229"/>
                <a:chOff x="7103825" y="-713112"/>
                <a:chExt cx="3785226" cy="3043150"/>
              </a:xfrm>
            </p:grpSpPr>
            <p:sp>
              <p:nvSpPr>
                <p:cNvPr id="1581" name="Google Shape;1581;p40"/>
                <p:cNvSpPr/>
                <p:nvPr/>
              </p:nvSpPr>
              <p:spPr>
                <a:xfrm rot="-3600017">
                  <a:off x="7761095" y="-21"/>
                  <a:ext cx="2152450" cy="1864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582" name="Google Shape;1582;p40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17657" b="17663"/>
                <a:stretch/>
              </p:blipFill>
              <p:spPr>
                <a:xfrm>
                  <a:off x="7103825" y="-713112"/>
                  <a:ext cx="3785226" cy="288897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583" name="Google Shape;1583;p40"/>
              <p:cNvGrpSpPr/>
              <p:nvPr/>
            </p:nvGrpSpPr>
            <p:grpSpPr>
              <a:xfrm>
                <a:off x="-640220" y="-2653973"/>
                <a:ext cx="6191222" cy="6191222"/>
                <a:chOff x="-640220" y="-2502423"/>
                <a:chExt cx="6191222" cy="6191222"/>
              </a:xfrm>
            </p:grpSpPr>
            <p:sp>
              <p:nvSpPr>
                <p:cNvPr id="1584" name="Google Shape;1584;p40"/>
                <p:cNvSpPr/>
                <p:nvPr/>
              </p:nvSpPr>
              <p:spPr>
                <a:xfrm rot="-8100000">
                  <a:off x="452224" y="-1781500"/>
                  <a:ext cx="4006334" cy="474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5" name="Google Shape;1585;p40"/>
                <p:cNvSpPr/>
                <p:nvPr/>
              </p:nvSpPr>
              <p:spPr>
                <a:xfrm rot="-8100000">
                  <a:off x="83608" y="-617740"/>
                  <a:ext cx="2925242" cy="3057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586" name="Google Shape;1586;p40"/>
            <p:cNvGrpSpPr/>
            <p:nvPr/>
          </p:nvGrpSpPr>
          <p:grpSpPr>
            <a:xfrm>
              <a:off x="-12" y="-195650"/>
              <a:ext cx="439200" cy="439100"/>
              <a:chOff x="1101075" y="2142375"/>
              <a:chExt cx="439200" cy="439100"/>
            </a:xfrm>
          </p:grpSpPr>
          <p:sp>
            <p:nvSpPr>
              <p:cNvPr id="1587" name="Google Shape;1587;p40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40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89" name="Google Shape;1589;p40"/>
          <p:cNvGrpSpPr/>
          <p:nvPr/>
        </p:nvGrpSpPr>
        <p:grpSpPr>
          <a:xfrm>
            <a:off x="4605344" y="2412775"/>
            <a:ext cx="5765856" cy="4103650"/>
            <a:chOff x="4452944" y="2184175"/>
            <a:chExt cx="5765856" cy="4103650"/>
          </a:xfrm>
        </p:grpSpPr>
        <p:pic>
          <p:nvPicPr>
            <p:cNvPr id="1590" name="Google Shape;1590;p40"/>
            <p:cNvPicPr preferRelativeResize="0"/>
            <p:nvPr/>
          </p:nvPicPr>
          <p:blipFill rotWithShape="1">
            <a:blip r:embed="rId4">
              <a:alphaModFix/>
            </a:blip>
            <a:srcRect l="16960" t="24718" r="7121" b="26177"/>
            <a:stretch/>
          </p:blipFill>
          <p:spPr>
            <a:xfrm rot="-5400000" flipH="1">
              <a:off x="6600975" y="2670000"/>
              <a:ext cx="4103650" cy="3132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91" name="Google Shape;1591;p40"/>
            <p:cNvGrpSpPr/>
            <p:nvPr/>
          </p:nvGrpSpPr>
          <p:grpSpPr>
            <a:xfrm rot="-5400000" flipH="1">
              <a:off x="8074852" y="4089881"/>
              <a:ext cx="1478405" cy="1186772"/>
              <a:chOff x="7945225" y="4302000"/>
              <a:chExt cx="904666" cy="726121"/>
            </a:xfrm>
          </p:grpSpPr>
          <p:sp>
            <p:nvSpPr>
              <p:cNvPr id="1592" name="Google Shape;1592;p4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4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4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95" name="Google Shape;1595;p40"/>
            <p:cNvSpPr/>
            <p:nvPr/>
          </p:nvSpPr>
          <p:spPr>
            <a:xfrm rot="-5400000" flipH="1">
              <a:off x="5435889" y="1481375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96" name="Google Shape;1596;p40"/>
            <p:cNvGrpSpPr/>
            <p:nvPr/>
          </p:nvGrpSpPr>
          <p:grpSpPr>
            <a:xfrm rot="-5400000" flipH="1">
              <a:off x="7140078" y="3883230"/>
              <a:ext cx="134004" cy="134004"/>
              <a:chOff x="8356813" y="1074288"/>
              <a:chExt cx="351900" cy="351900"/>
            </a:xfrm>
          </p:grpSpPr>
          <p:sp>
            <p:nvSpPr>
              <p:cNvPr id="1597" name="Google Shape;1597;p4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4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9" name="Google Shape;1599;p40"/>
            <p:cNvGrpSpPr/>
            <p:nvPr/>
          </p:nvGrpSpPr>
          <p:grpSpPr>
            <a:xfrm rot="-5400000" flipH="1">
              <a:off x="6766253" y="3499155"/>
              <a:ext cx="134004" cy="134004"/>
              <a:chOff x="8356813" y="1074288"/>
              <a:chExt cx="351900" cy="351900"/>
            </a:xfrm>
          </p:grpSpPr>
          <p:sp>
            <p:nvSpPr>
              <p:cNvPr id="1600" name="Google Shape;1600;p4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4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2" name="Google Shape;1602;p40"/>
            <p:cNvSpPr/>
            <p:nvPr/>
          </p:nvSpPr>
          <p:spPr>
            <a:xfrm rot="5400000" flipH="1">
              <a:off x="6561314" y="2368138"/>
              <a:ext cx="1902692" cy="406951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40"/>
            <p:cNvSpPr/>
            <p:nvPr/>
          </p:nvSpPr>
          <p:spPr>
            <a:xfrm rot="5400000" flipH="1">
              <a:off x="6562398" y="2676948"/>
              <a:ext cx="1902692" cy="406951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04" name="Google Shape;1604;p40"/>
            <p:cNvGrpSpPr/>
            <p:nvPr/>
          </p:nvGrpSpPr>
          <p:grpSpPr>
            <a:xfrm rot="-5400000" flipH="1">
              <a:off x="7404606" y="3451356"/>
              <a:ext cx="582050" cy="582425"/>
              <a:chOff x="959750" y="3039275"/>
              <a:chExt cx="582050" cy="582425"/>
            </a:xfrm>
          </p:grpSpPr>
          <p:sp>
            <p:nvSpPr>
              <p:cNvPr id="1605" name="Google Shape;1605;p4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4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4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4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4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4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4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2" name="Google Shape;1612;p40"/>
            <p:cNvGrpSpPr/>
            <p:nvPr/>
          </p:nvGrpSpPr>
          <p:grpSpPr>
            <a:xfrm rot="-5400000" flipH="1">
              <a:off x="7237650" y="4201057"/>
              <a:ext cx="699928" cy="1651024"/>
              <a:chOff x="8337812" y="3492483"/>
              <a:chExt cx="699928" cy="1651024"/>
            </a:xfrm>
          </p:grpSpPr>
          <p:sp>
            <p:nvSpPr>
              <p:cNvPr id="1613" name="Google Shape;1613;p4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4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4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16" name="Google Shape;1616;p40"/>
            <p:cNvSpPr/>
            <p:nvPr/>
          </p:nvSpPr>
          <p:spPr>
            <a:xfrm rot="147769" flipH="1">
              <a:off x="7025973" y="4504982"/>
              <a:ext cx="454547" cy="449759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40"/>
            <p:cNvSpPr/>
            <p:nvPr/>
          </p:nvSpPr>
          <p:spPr>
            <a:xfrm rot="147769" flipH="1">
              <a:off x="6785273" y="4569932"/>
              <a:ext cx="454547" cy="449759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8" name="Google Shape;1618;p40"/>
            <p:cNvGrpSpPr/>
            <p:nvPr/>
          </p:nvGrpSpPr>
          <p:grpSpPr>
            <a:xfrm rot="-5400000" flipH="1">
              <a:off x="5819578" y="4727817"/>
              <a:ext cx="134004" cy="134004"/>
              <a:chOff x="8356813" y="1074288"/>
              <a:chExt cx="351900" cy="351900"/>
            </a:xfrm>
          </p:grpSpPr>
          <p:sp>
            <p:nvSpPr>
              <p:cNvPr id="1619" name="Google Shape;1619;p4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4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21" name="Google Shape;1621;p40"/>
          <p:cNvSpPr txBox="1">
            <a:spLocks noGrp="1"/>
          </p:cNvSpPr>
          <p:nvPr>
            <p:ph type="title"/>
          </p:nvPr>
        </p:nvSpPr>
        <p:spPr>
          <a:xfrm>
            <a:off x="704721" y="1017906"/>
            <a:ext cx="6691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WARNING!</a:t>
            </a:r>
            <a:endParaRPr dirty="0"/>
          </a:p>
        </p:txBody>
      </p:sp>
      <p:sp>
        <p:nvSpPr>
          <p:cNvPr id="1622" name="Google Shape;1622;p40"/>
          <p:cNvSpPr txBox="1">
            <a:spLocks noGrp="1"/>
          </p:cNvSpPr>
          <p:nvPr>
            <p:ph type="subTitle" idx="1"/>
          </p:nvPr>
        </p:nvSpPr>
        <p:spPr>
          <a:xfrm>
            <a:off x="713225" y="1837376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“</a:t>
            </a:r>
            <a:r>
              <a:rPr lang="en-US" dirty="0"/>
              <a:t>Tokopedia’s terms prohibit commercial scraping, so this is purely for educational and capacity building purposes</a:t>
            </a:r>
            <a:r>
              <a:rPr lang="en" dirty="0"/>
              <a:t>”</a:t>
            </a:r>
            <a:endParaRPr dirty="0"/>
          </a:p>
        </p:txBody>
      </p:sp>
      <p:grpSp>
        <p:nvGrpSpPr>
          <p:cNvPr id="1623" name="Google Shape;1623;p40"/>
          <p:cNvGrpSpPr/>
          <p:nvPr/>
        </p:nvGrpSpPr>
        <p:grpSpPr>
          <a:xfrm rot="-5400000" flipH="1">
            <a:off x="8904403" y="2929792"/>
            <a:ext cx="134004" cy="134004"/>
            <a:chOff x="8356813" y="1074288"/>
            <a:chExt cx="351900" cy="351900"/>
          </a:xfrm>
        </p:grpSpPr>
        <p:sp>
          <p:nvSpPr>
            <p:cNvPr id="1624" name="Google Shape;1624;p40"/>
            <p:cNvSpPr/>
            <p:nvPr/>
          </p:nvSpPr>
          <p:spPr>
            <a:xfrm>
              <a:off x="8356813" y="1074288"/>
              <a:ext cx="351900" cy="3519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40"/>
            <p:cNvSpPr/>
            <p:nvPr/>
          </p:nvSpPr>
          <p:spPr>
            <a:xfrm>
              <a:off x="8406497" y="1123972"/>
              <a:ext cx="252600" cy="252600"/>
            </a:xfrm>
            <a:prstGeom prst="ellipse">
              <a:avLst/>
            </a:pr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6" name="Google Shape;1626;p40"/>
          <p:cNvGrpSpPr/>
          <p:nvPr/>
        </p:nvGrpSpPr>
        <p:grpSpPr>
          <a:xfrm>
            <a:off x="784202" y="1486330"/>
            <a:ext cx="4558967" cy="134100"/>
            <a:chOff x="796100" y="3019701"/>
            <a:chExt cx="4558967" cy="134100"/>
          </a:xfrm>
        </p:grpSpPr>
        <p:sp>
          <p:nvSpPr>
            <p:cNvPr id="1627" name="Google Shape;1627;p40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28" name="Google Shape;1628;p40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29" name="Google Shape;1629;p40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FB6E9-F24C-0D2F-84B4-C9411B6A4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link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9C3640-0354-7F3C-3ECB-96257BD8B0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/>
              <a:t>https://github.com/arindammisra/IndonesiaPoC</a:t>
            </a:r>
          </a:p>
        </p:txBody>
      </p:sp>
    </p:spTree>
    <p:extLst>
      <p:ext uri="{BB962C8B-B14F-4D97-AF65-F5344CB8AC3E}">
        <p14:creationId xmlns:p14="http://schemas.microsoft.com/office/powerpoint/2010/main" val="2286316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6B259A1-18B6-8168-2EED-2DB47F66A9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Tokopaedi</a:t>
            </a:r>
            <a:r>
              <a:rPr lang="en-US" b="1" dirty="0"/>
              <a:t> - Python Library for Tokopedia E-Commerce Data Extraction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https://github.com/hilmiazizi/tokopaedi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Extract product data, reviews, and search results from Tokopedia with ease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Tokopaedi</a:t>
            </a:r>
            <a:r>
              <a:rPr lang="en-US" dirty="0"/>
              <a:t> is a powerful Python library designed for scraping e-commerce data from Tokopedia, including product searches, detailed product information, and customer reviews. Ideal for developers, data analysts, and businesses looking to analyze Tokopedia's marketplace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hlinkClick r:id="rId3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https://medium.com/@yunialtafiyah07/scrape-product-of-a-shop-in-tokopedia-e58b50688e23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the </a:t>
            </a:r>
            <a:r>
              <a:rPr lang="en-US" dirty="0" err="1"/>
              <a:t>ShopProduct</a:t>
            </a:r>
            <a:r>
              <a:rPr lang="en-US" dirty="0"/>
              <a:t> API to fetch information about Shop’s products</a:t>
            </a:r>
          </a:p>
          <a:p>
            <a:endParaRPr lang="en-US" dirty="0"/>
          </a:p>
          <a:p>
            <a:pPr marL="13970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266DF6-251C-8D36-8095-80589EB12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Repositories</a:t>
            </a:r>
          </a:p>
        </p:txBody>
      </p:sp>
    </p:spTree>
    <p:extLst>
      <p:ext uri="{BB962C8B-B14F-4D97-AF65-F5344CB8AC3E}">
        <p14:creationId xmlns:p14="http://schemas.microsoft.com/office/powerpoint/2010/main" val="3129135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ACA7463-6A6B-E7DC-20A4-F459783F18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Both scripts use Tokopedia's internal </a:t>
            </a:r>
            <a:r>
              <a:rPr lang="en-US" dirty="0" err="1"/>
              <a:t>GraphQL</a:t>
            </a:r>
            <a:r>
              <a:rPr lang="en-US" dirty="0"/>
              <a:t> (GQL) API, which is the same API their mobile app and website use to load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GraphQL</a:t>
            </a:r>
            <a:r>
              <a:rPr lang="en-US" b="1" dirty="0"/>
              <a:t> uses a single endpoint</a:t>
            </a:r>
            <a:r>
              <a:rPr lang="en-US" dirty="0"/>
              <a:t> (e.g., /</a:t>
            </a:r>
            <a:r>
              <a:rPr lang="en-US" dirty="0" err="1"/>
              <a:t>graphql</a:t>
            </a:r>
            <a:r>
              <a:rPr lang="en-US" dirty="0"/>
              <a:t>). The client sends a query to this endpoint, specifying exactly the data fields it needs.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server then responds with a JSON object that matches the query's structure.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APIs used are NOT Public APIs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GraphQL</a:t>
            </a:r>
            <a:r>
              <a:rPr lang="en-US" b="1" dirty="0"/>
              <a:t> Endpoints Used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gql.tokopedia.com/</a:t>
            </a:r>
            <a:r>
              <a:rPr lang="en-US" b="1" dirty="0" err="1"/>
              <a:t>graphql</a:t>
            </a:r>
            <a:r>
              <a:rPr lang="en-US" b="1" dirty="0"/>
              <a:t>/</a:t>
            </a:r>
            <a:r>
              <a:rPr lang="en-US" b="1" dirty="0" err="1"/>
              <a:t>SearchResult</a:t>
            </a:r>
            <a:r>
              <a:rPr lang="en-US" b="1" dirty="0"/>
              <a:t>/</a:t>
            </a:r>
            <a:r>
              <a:rPr lang="en-US" b="1" dirty="0" err="1"/>
              <a:t>getProductResult</a:t>
            </a:r>
            <a:endParaRPr lang="en-US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b="1" dirty="0"/>
              <a:t>Function</a:t>
            </a:r>
            <a:r>
              <a:rPr lang="en-US" dirty="0"/>
              <a:t>: Used by the search() function in the advanced script.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b="1" dirty="0"/>
              <a:t>Purpose</a:t>
            </a:r>
            <a:r>
              <a:rPr lang="en-US" dirty="0"/>
              <a:t>: To execute a keyword search and retrieve a paginated list of products.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b="1" dirty="0"/>
              <a:t>Query</a:t>
            </a:r>
            <a:r>
              <a:rPr lang="en-US" dirty="0"/>
              <a:t>: </a:t>
            </a:r>
            <a:r>
              <a:rPr lang="en-US" dirty="0" err="1"/>
              <a:t>Search_SearchProduct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2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A86269-0437-F6CE-910C-D51BE5FB7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</a:t>
            </a:r>
            <a:r>
              <a:rPr lang="en-US" dirty="0" err="1"/>
              <a:t>GraphQL</a:t>
            </a:r>
            <a:r>
              <a:rPr lang="en-US" dirty="0"/>
              <a:t> API endpoints</a:t>
            </a:r>
          </a:p>
        </p:txBody>
      </p:sp>
    </p:spTree>
    <p:extLst>
      <p:ext uri="{BB962C8B-B14F-4D97-AF65-F5344CB8AC3E}">
        <p14:creationId xmlns:p14="http://schemas.microsoft.com/office/powerpoint/2010/main" val="304106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291C0-B7A3-5A17-95F7-E1E21CEE8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9F9F023-D573-B7A8-E256-5DA539F73B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GraphQL</a:t>
            </a:r>
            <a:r>
              <a:rPr lang="en-US" b="1" dirty="0"/>
              <a:t> Endpoints Used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gql.tokopedia.com/</a:t>
            </a:r>
            <a:r>
              <a:rPr lang="en-US" b="1" dirty="0" err="1"/>
              <a:t>graphql</a:t>
            </a:r>
            <a:r>
              <a:rPr lang="en-US" b="1" dirty="0"/>
              <a:t>/</a:t>
            </a:r>
            <a:r>
              <a:rPr lang="en-US" b="1" dirty="0" err="1"/>
              <a:t>ProductDetails</a:t>
            </a:r>
            <a:r>
              <a:rPr lang="en-US" b="1" dirty="0"/>
              <a:t>/</a:t>
            </a:r>
            <a:r>
              <a:rPr lang="en-US" b="1" dirty="0" err="1"/>
              <a:t>getPDPLayout</a:t>
            </a:r>
            <a:endParaRPr lang="en-US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b="1" dirty="0"/>
              <a:t>Function</a:t>
            </a:r>
            <a:r>
              <a:rPr lang="en-US" dirty="0"/>
              <a:t>: Used by the </a:t>
            </a:r>
            <a:r>
              <a:rPr lang="en-US" dirty="0" err="1"/>
              <a:t>get_product</a:t>
            </a:r>
            <a:r>
              <a:rPr lang="en-US" dirty="0"/>
              <a:t>() and </a:t>
            </a:r>
            <a:r>
              <a:rPr lang="en-US" dirty="0" err="1"/>
              <a:t>enrich_details</a:t>
            </a:r>
            <a:r>
              <a:rPr lang="en-US" dirty="0"/>
              <a:t>() functions.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b="1" dirty="0"/>
              <a:t>Purpose</a:t>
            </a:r>
            <a:r>
              <a:rPr lang="en-US" dirty="0"/>
              <a:t>: To fetch all detailed information for a single product (Product Detail Page, or PDP).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b="1" dirty="0"/>
              <a:t>Query</a:t>
            </a:r>
            <a:r>
              <a:rPr lang="en-US" dirty="0"/>
              <a:t>: </a:t>
            </a:r>
            <a:r>
              <a:rPr lang="en-US" dirty="0" err="1"/>
              <a:t>PDP_getPDPLayout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gql.tokopedia.com/</a:t>
            </a:r>
            <a:r>
              <a:rPr lang="en-US" b="1" dirty="0" err="1"/>
              <a:t>graphql</a:t>
            </a:r>
            <a:r>
              <a:rPr lang="en-US" b="1" dirty="0"/>
              <a:t>/</a:t>
            </a:r>
            <a:r>
              <a:rPr lang="en-US" b="1" dirty="0" err="1"/>
              <a:t>ShopProducts</a:t>
            </a:r>
            <a:endParaRPr lang="en-US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b="1" dirty="0"/>
              <a:t>Function:</a:t>
            </a:r>
            <a:r>
              <a:rPr lang="en-US" dirty="0"/>
              <a:t> Used by the </a:t>
            </a:r>
            <a:r>
              <a:rPr lang="en-US" i="1" dirty="0"/>
              <a:t>simpler</a:t>
            </a:r>
            <a:r>
              <a:rPr lang="en-US" dirty="0"/>
              <a:t> shop extractor script.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b="1" dirty="0"/>
              <a:t>Purpose:</a:t>
            </a:r>
            <a:r>
              <a:rPr lang="en-US" dirty="0"/>
              <a:t> To get a list of products from a specific shop.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b="1" dirty="0"/>
              <a:t>Query:</a:t>
            </a:r>
            <a:r>
              <a:rPr lang="en-US" dirty="0"/>
              <a:t> </a:t>
            </a:r>
            <a:r>
              <a:rPr lang="en-US" dirty="0" err="1"/>
              <a:t>ShopProducts</a:t>
            </a:r>
            <a:endParaRPr lang="en-US" dirty="0"/>
          </a:p>
          <a:p>
            <a:pPr lvl="2">
              <a:buFont typeface="Arial" panose="020B0604020202020204" pitchFamily="34" charset="0"/>
              <a:buChar char="•"/>
            </a:pPr>
            <a:endParaRPr lang="en-US" dirty="0"/>
          </a:p>
          <a:p>
            <a:pPr lvl="2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3B0EB6-F3D1-69C8-B870-E626B917F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</a:t>
            </a:r>
            <a:r>
              <a:rPr lang="en-US" dirty="0" err="1"/>
              <a:t>GraphQL</a:t>
            </a:r>
            <a:r>
              <a:rPr lang="en-US" dirty="0"/>
              <a:t> API endpoints</a:t>
            </a:r>
          </a:p>
        </p:txBody>
      </p:sp>
    </p:spTree>
    <p:extLst>
      <p:ext uri="{BB962C8B-B14F-4D97-AF65-F5344CB8AC3E}">
        <p14:creationId xmlns:p14="http://schemas.microsoft.com/office/powerpoint/2010/main" val="479786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2F4CFA3-543A-0655-F3F3-331F5BCF0A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Achieved by the </a:t>
            </a:r>
            <a:r>
              <a:rPr lang="en-US" b="1" dirty="0" err="1"/>
              <a:t>randomize_fp</a:t>
            </a:r>
            <a:r>
              <a:rPr lang="en-US" b="1" dirty="0"/>
              <a:t>()</a:t>
            </a:r>
            <a:r>
              <a:rPr lang="en-US" dirty="0"/>
              <a:t> function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Every single time</a:t>
            </a:r>
            <a:r>
              <a:rPr lang="en-US" dirty="0"/>
              <a:t> an API call is made (search, product detail, or review), the </a:t>
            </a:r>
            <a:r>
              <a:rPr lang="en-US" dirty="0" err="1"/>
              <a:t>randomize_fp</a:t>
            </a:r>
            <a:r>
              <a:rPr lang="en-US" dirty="0"/>
              <a:t>() function is called to generate a </a:t>
            </a:r>
            <a:r>
              <a:rPr lang="en-US" i="1" dirty="0"/>
              <a:t>new, unique identity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function assembles a "profile" by randomly selecting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User ID:</a:t>
            </a:r>
            <a:r>
              <a:rPr lang="en-US" dirty="0"/>
              <a:t> Randomly picks one from a list of 100+ real </a:t>
            </a:r>
            <a:r>
              <a:rPr lang="en-US" dirty="0" err="1"/>
              <a:t>user_ids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User Agent:</a:t>
            </a:r>
            <a:r>
              <a:rPr lang="en-US" dirty="0"/>
              <a:t> Randomly picks from a list of real iOS/Tokopedia app User-Agents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Device Details:</a:t>
            </a:r>
            <a:r>
              <a:rPr lang="en-US" dirty="0"/>
              <a:t> Randomly picks an </a:t>
            </a:r>
            <a:r>
              <a:rPr lang="en-US" dirty="0" err="1"/>
              <a:t>iphone_model</a:t>
            </a:r>
            <a:r>
              <a:rPr lang="en-US" dirty="0"/>
              <a:t>, </a:t>
            </a:r>
            <a:r>
              <a:rPr lang="en-US" dirty="0" err="1"/>
              <a:t>ios_version</a:t>
            </a:r>
            <a:r>
              <a:rPr lang="en-US" dirty="0"/>
              <a:t>, and </a:t>
            </a:r>
            <a:r>
              <a:rPr lang="en-US" dirty="0" err="1"/>
              <a:t>screen_resolution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Unique Identifiers:</a:t>
            </a:r>
            <a:r>
              <a:rPr lang="en-US" dirty="0"/>
              <a:t> Generates new, random UUIDs (Universally Unique Identifiers) for the </a:t>
            </a:r>
            <a:r>
              <a:rPr lang="en-US" dirty="0" err="1"/>
              <a:t>idfa</a:t>
            </a:r>
            <a:r>
              <a:rPr lang="en-US" dirty="0"/>
              <a:t> (Identifier for Advertisers) and </a:t>
            </a:r>
            <a:r>
              <a:rPr lang="en-US" dirty="0" err="1"/>
              <a:t>unique_id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Location:</a:t>
            </a:r>
            <a:r>
              <a:rPr lang="en-US" dirty="0"/>
              <a:t> Generates a random longitude and latitude within the bounds of Java Island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fingerprint, along with the random </a:t>
            </a:r>
            <a:r>
              <a:rPr lang="en-US" dirty="0" err="1"/>
              <a:t>user_id</a:t>
            </a:r>
            <a:r>
              <a:rPr lang="en-US" dirty="0"/>
              <a:t>, is then passed in the request headers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297A4F-2B05-CDEB-57EE-5F3D62FA1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‘fingerprint’ use</a:t>
            </a:r>
          </a:p>
        </p:txBody>
      </p:sp>
    </p:spTree>
    <p:extLst>
      <p:ext uri="{BB962C8B-B14F-4D97-AF65-F5344CB8AC3E}">
        <p14:creationId xmlns:p14="http://schemas.microsoft.com/office/powerpoint/2010/main" val="559240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59B8356-9975-F66C-6405-B91D7C2B9F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Product Search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This is a sophisticated, multi-stage scraping engine. It is designed to emulate the Tokopedia </a:t>
            </a:r>
            <a:r>
              <a:rPr lang="en-US" b="1" dirty="0"/>
              <a:t>iOS mobile app</a:t>
            </a:r>
            <a:r>
              <a:rPr lang="en-US" dirty="0"/>
              <a:t> to search Tokopedia and fetch product details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Uses advanced techniques like device fingerprinting to avoid being blocked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Uses Python </a:t>
            </a:r>
            <a:r>
              <a:rPr lang="en-US" dirty="0" err="1"/>
              <a:t>dataclasses</a:t>
            </a:r>
            <a:r>
              <a:rPr lang="en-US" dirty="0"/>
              <a:t> (e.g., </a:t>
            </a:r>
            <a:r>
              <a:rPr lang="en-US" dirty="0" err="1"/>
              <a:t>ProductData</a:t>
            </a:r>
            <a:r>
              <a:rPr lang="en-US" dirty="0"/>
              <a:t>, </a:t>
            </a:r>
            <a:r>
              <a:rPr lang="en-US" dirty="0" err="1"/>
              <a:t>ProductReview</a:t>
            </a:r>
            <a:r>
              <a:rPr lang="en-US" dirty="0"/>
              <a:t>) to store the complex, nested data, which is finally exported to a JSON file and can be loaded into a Pandas </a:t>
            </a:r>
            <a:r>
              <a:rPr lang="en-US" dirty="0" err="1"/>
              <a:t>DataFrame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Shop extractor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Finds the list of products from a </a:t>
            </a:r>
            <a:r>
              <a:rPr lang="en-US" b="1" dirty="0"/>
              <a:t>single, specific Tokopedia shop</a:t>
            </a:r>
            <a:r>
              <a:rPr lang="en-US" dirty="0"/>
              <a:t> identified by a </a:t>
            </a:r>
            <a:r>
              <a:rPr lang="en-US" dirty="0" err="1"/>
              <a:t>shop_id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Makes one request, extracts basic data (name, price, image), and saves it to a CSV file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uses hardcoded authentication (a long cookie string)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051B9B-E85C-E500-400D-0E9EA9100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</a:t>
            </a:r>
            <a:r>
              <a:rPr lang="en-US" dirty="0" err="1"/>
              <a:t>GraphQL</a:t>
            </a:r>
            <a:r>
              <a:rPr lang="en-US" dirty="0"/>
              <a:t> API endpoints</a:t>
            </a:r>
          </a:p>
        </p:txBody>
      </p:sp>
    </p:spTree>
    <p:extLst>
      <p:ext uri="{BB962C8B-B14F-4D97-AF65-F5344CB8AC3E}">
        <p14:creationId xmlns:p14="http://schemas.microsoft.com/office/powerpoint/2010/main" val="3788464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A8D3236-9B3D-60CA-8E99-57EE9F4C91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 err="1"/>
              <a:t>get_product</a:t>
            </a:r>
            <a:endParaRPr lang="en-US" sz="1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'</a:t>
            </a:r>
            <a:r>
              <a:rPr lang="en-US" sz="1800" dirty="0" err="1"/>
              <a:t>product_id</a:t>
            </a:r>
            <a:r>
              <a:rPr lang="en-US" sz="1800" dirty="0"/>
              <a:t>', '</a:t>
            </a:r>
            <a:r>
              <a:rPr lang="en-US" sz="1800" dirty="0" err="1"/>
              <a:t>product_sku</a:t>
            </a:r>
            <a:r>
              <a:rPr lang="en-US" sz="1800" dirty="0"/>
              <a:t>', '</a:t>
            </a:r>
            <a:r>
              <a:rPr lang="en-US" sz="1800" dirty="0" err="1"/>
              <a:t>product_name</a:t>
            </a:r>
            <a:r>
              <a:rPr lang="en-US" sz="1800" dirty="0"/>
              <a:t>', '</a:t>
            </a:r>
            <a:r>
              <a:rPr lang="en-US" sz="1800" dirty="0" err="1"/>
              <a:t>url</a:t>
            </a:r>
            <a:r>
              <a:rPr lang="en-US" sz="1800" dirty="0"/>
              <a:t>', '</a:t>
            </a:r>
            <a:r>
              <a:rPr lang="en-US" sz="1800" dirty="0" err="1"/>
              <a:t>main_image</a:t>
            </a:r>
            <a:r>
              <a:rPr lang="en-US" sz="1800" dirty="0"/>
              <a:t>', 'status', 'description', 'price', '</a:t>
            </a:r>
            <a:r>
              <a:rPr lang="en-US" sz="1800" dirty="0" err="1"/>
              <a:t>price_text</a:t>
            </a:r>
            <a:r>
              <a:rPr lang="en-US" sz="1800" dirty="0"/>
              <a:t>', '</a:t>
            </a:r>
            <a:r>
              <a:rPr lang="en-US" sz="1800" dirty="0" err="1"/>
              <a:t>price_original</a:t>
            </a:r>
            <a:r>
              <a:rPr lang="en-US" sz="1800" dirty="0"/>
              <a:t>', '</a:t>
            </a:r>
            <a:r>
              <a:rPr lang="en-US" sz="1800" dirty="0" err="1"/>
              <a:t>discount_percentage</a:t>
            </a:r>
            <a:r>
              <a:rPr lang="en-US" sz="1800" dirty="0"/>
              <a:t>', 'weight', '</a:t>
            </a:r>
            <a:r>
              <a:rPr lang="en-US" sz="1800" dirty="0" err="1"/>
              <a:t>weight_unit</a:t>
            </a:r>
            <a:r>
              <a:rPr lang="en-US" sz="1800" dirty="0"/>
              <a:t>', '</a:t>
            </a:r>
            <a:r>
              <a:rPr lang="en-US" sz="1800" dirty="0" err="1"/>
              <a:t>product_media</a:t>
            </a:r>
            <a:r>
              <a:rPr lang="en-US" sz="1800" dirty="0"/>
              <a:t>', '</a:t>
            </a:r>
            <a:r>
              <a:rPr lang="en-US" sz="1800" dirty="0" err="1"/>
              <a:t>sold_count</a:t>
            </a:r>
            <a:r>
              <a:rPr lang="en-US" sz="1800" dirty="0"/>
              <a:t>', 'rating', '</a:t>
            </a:r>
            <a:r>
              <a:rPr lang="en-US" sz="1800" dirty="0" err="1"/>
              <a:t>review_count</a:t>
            </a:r>
            <a:r>
              <a:rPr lang="en-US" sz="1800" dirty="0"/>
              <a:t>', '</a:t>
            </a:r>
            <a:r>
              <a:rPr lang="en-US" sz="1800" dirty="0" err="1"/>
              <a:t>discussion_count</a:t>
            </a:r>
            <a:r>
              <a:rPr lang="en-US" sz="1800" dirty="0"/>
              <a:t>', '</a:t>
            </a:r>
            <a:r>
              <a:rPr lang="en-US" sz="1800" dirty="0" err="1"/>
              <a:t>total_stock</a:t>
            </a:r>
            <a:r>
              <a:rPr lang="en-US" sz="1800" dirty="0"/>
              <a:t>', '</a:t>
            </a:r>
            <a:r>
              <a:rPr lang="en-US" sz="1800" dirty="0" err="1"/>
              <a:t>etalase</a:t>
            </a:r>
            <a:r>
              <a:rPr lang="en-US" sz="1800" dirty="0"/>
              <a:t>', '</a:t>
            </a:r>
            <a:r>
              <a:rPr lang="en-US" sz="1800" dirty="0" err="1"/>
              <a:t>etalase_url</a:t>
            </a:r>
            <a:r>
              <a:rPr lang="en-US" sz="1800" dirty="0"/>
              <a:t>', 'category', '</a:t>
            </a:r>
            <a:r>
              <a:rPr lang="en-US" sz="1800" dirty="0" err="1"/>
              <a:t>sub_category</a:t>
            </a:r>
            <a:r>
              <a:rPr lang="en-US" sz="1800" dirty="0"/>
              <a:t>', '</a:t>
            </a:r>
            <a:r>
              <a:rPr lang="en-US" sz="1800" dirty="0" err="1"/>
              <a:t>product_option</a:t>
            </a:r>
            <a:r>
              <a:rPr lang="en-US" sz="1800" dirty="0"/>
              <a:t>', 'variants', 'reviews', '</a:t>
            </a:r>
            <a:r>
              <a:rPr lang="en-US" sz="1800" dirty="0" err="1"/>
              <a:t>has_detail</a:t>
            </a:r>
            <a:r>
              <a:rPr lang="en-US" sz="1800" dirty="0"/>
              <a:t>', '</a:t>
            </a:r>
            <a:r>
              <a:rPr lang="en-US" sz="1800" dirty="0" err="1"/>
              <a:t>has_reviews</a:t>
            </a:r>
            <a:r>
              <a:rPr lang="en-US" sz="1800" dirty="0"/>
              <a:t>', '</a:t>
            </a:r>
            <a:r>
              <a:rPr lang="en-US" sz="1800" dirty="0" err="1"/>
              <a:t>shop.shop_id</a:t>
            </a:r>
            <a:r>
              <a:rPr lang="en-US" sz="1800" dirty="0"/>
              <a:t>', 'shop.name', '</a:t>
            </a:r>
            <a:r>
              <a:rPr lang="en-US" sz="1800" dirty="0" err="1"/>
              <a:t>shop.city</a:t>
            </a:r>
            <a:r>
              <a:rPr lang="en-US" sz="1800" dirty="0"/>
              <a:t>', 'shop.url', '</a:t>
            </a:r>
            <a:r>
              <a:rPr lang="en-US" sz="1800" dirty="0" err="1"/>
              <a:t>shop.shop_type</a:t>
            </a:r>
            <a:r>
              <a:rPr lang="en-US" sz="1800" dirty="0"/>
              <a:t>'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0948CD-8AD3-1A50-E508-47C246657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fields obtained from API response </a:t>
            </a:r>
          </a:p>
        </p:txBody>
      </p:sp>
    </p:spTree>
    <p:extLst>
      <p:ext uri="{BB962C8B-B14F-4D97-AF65-F5344CB8AC3E}">
        <p14:creationId xmlns:p14="http://schemas.microsoft.com/office/powerpoint/2010/main" val="3480304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FF6DE-FFF6-69FB-BAD6-BB2BA58A9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71EF595-C8BA-FE80-1CEE-F6E3A046E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25" y="1070402"/>
            <a:ext cx="7710900" cy="3455700"/>
          </a:xfrm>
        </p:spPr>
        <p:txBody>
          <a:bodyPr/>
          <a:lstStyle/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 err="1"/>
              <a:t>ShopProducts</a:t>
            </a:r>
            <a:endParaRPr lang="en-US" sz="1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['name', '</a:t>
            </a:r>
            <a:r>
              <a:rPr lang="en-US" sz="1800" dirty="0" err="1"/>
              <a:t>product_url</a:t>
            </a:r>
            <a:r>
              <a:rPr lang="en-US" sz="1800" dirty="0"/>
              <a:t>', '</a:t>
            </a:r>
            <a:r>
              <a:rPr lang="en-US" sz="1800" dirty="0" err="1"/>
              <a:t>product_id</a:t>
            </a:r>
            <a:r>
              <a:rPr lang="en-US" sz="1800" dirty="0"/>
              <a:t>', 'label', '</a:t>
            </a:r>
            <a:r>
              <a:rPr lang="en-US" sz="1800" dirty="0" err="1"/>
              <a:t>label_groups</a:t>
            </a:r>
            <a:r>
              <a:rPr lang="en-US" sz="1800" dirty="0"/>
              <a:t>', 'badge', '__</a:t>
            </a:r>
            <a:r>
              <a:rPr lang="en-US" sz="1800" dirty="0" err="1"/>
              <a:t>typename</a:t>
            </a:r>
            <a:r>
              <a:rPr lang="en-US" sz="1800" dirty="0"/>
              <a:t>', '</a:t>
            </a:r>
            <a:r>
              <a:rPr lang="en-US" sz="1800" dirty="0" err="1"/>
              <a:t>price.text_idr</a:t>
            </a:r>
            <a:r>
              <a:rPr lang="en-US" sz="1800" dirty="0"/>
              <a:t>', 'price.__</a:t>
            </a:r>
            <a:r>
              <a:rPr lang="en-US" sz="1800" dirty="0" err="1"/>
              <a:t>typename</a:t>
            </a:r>
            <a:r>
              <a:rPr lang="en-US" sz="1800" dirty="0"/>
              <a:t>', '</a:t>
            </a:r>
            <a:r>
              <a:rPr lang="en-US" sz="1800" dirty="0" err="1"/>
              <a:t>primary_image.original</a:t>
            </a:r>
            <a:r>
              <a:rPr lang="en-US" sz="1800" dirty="0"/>
              <a:t>', '</a:t>
            </a:r>
            <a:r>
              <a:rPr lang="en-US" sz="1800" dirty="0" err="1"/>
              <a:t>primary_image.thumbnail</a:t>
            </a:r>
            <a:r>
              <a:rPr lang="en-US" sz="1800" dirty="0"/>
              <a:t>', 'primary_image.resize300', 'primary_image.__</a:t>
            </a:r>
            <a:r>
              <a:rPr lang="en-US" sz="1800" dirty="0" err="1"/>
              <a:t>typename</a:t>
            </a:r>
            <a:r>
              <a:rPr lang="en-US" sz="1800" dirty="0"/>
              <a:t>', '</a:t>
            </a:r>
            <a:r>
              <a:rPr lang="en-US" sz="1800" dirty="0" err="1"/>
              <a:t>flags.isSold</a:t>
            </a:r>
            <a:r>
              <a:rPr lang="en-US" sz="1800" dirty="0"/>
              <a:t>', '</a:t>
            </a:r>
            <a:r>
              <a:rPr lang="en-US" sz="1800" dirty="0" err="1"/>
              <a:t>flags.isPreorder</a:t>
            </a:r>
            <a:r>
              <a:rPr lang="en-US" sz="1800" dirty="0"/>
              <a:t>', '</a:t>
            </a:r>
            <a:r>
              <a:rPr lang="en-US" sz="1800" dirty="0" err="1"/>
              <a:t>flags.isWholesale</a:t>
            </a:r>
            <a:r>
              <a:rPr lang="en-US" sz="1800" dirty="0"/>
              <a:t>', '</a:t>
            </a:r>
            <a:r>
              <a:rPr lang="en-US" sz="1800" dirty="0" err="1"/>
              <a:t>flags.isWishlist</a:t>
            </a:r>
            <a:r>
              <a:rPr lang="en-US" sz="1800" dirty="0"/>
              <a:t>', 'flags.__</a:t>
            </a:r>
            <a:r>
              <a:rPr lang="en-US" sz="1800" dirty="0" err="1"/>
              <a:t>typename</a:t>
            </a:r>
            <a:r>
              <a:rPr lang="en-US" sz="1800" dirty="0"/>
              <a:t>', '</a:t>
            </a:r>
            <a:r>
              <a:rPr lang="en-US" sz="1800" dirty="0" err="1"/>
              <a:t>campaign.discounted_percentage</a:t>
            </a:r>
            <a:r>
              <a:rPr lang="en-US" sz="1800" dirty="0"/>
              <a:t>', '</a:t>
            </a:r>
            <a:r>
              <a:rPr lang="en-US" sz="1800" dirty="0" err="1"/>
              <a:t>campaign.original_price_fmt</a:t>
            </a:r>
            <a:r>
              <a:rPr lang="en-US" sz="1800" dirty="0"/>
              <a:t>', '</a:t>
            </a:r>
            <a:r>
              <a:rPr lang="en-US" sz="1800" dirty="0" err="1"/>
              <a:t>campaign.start_date</a:t>
            </a:r>
            <a:r>
              <a:rPr lang="en-US" sz="1800" dirty="0"/>
              <a:t>', '</a:t>
            </a:r>
            <a:r>
              <a:rPr lang="en-US" sz="1800" dirty="0" err="1"/>
              <a:t>campaign.end_date</a:t>
            </a:r>
            <a:r>
              <a:rPr lang="en-US" sz="1800" dirty="0"/>
              <a:t>', 'campaign.__</a:t>
            </a:r>
            <a:r>
              <a:rPr lang="en-US" sz="1800" dirty="0" err="1"/>
              <a:t>typename</a:t>
            </a:r>
            <a:r>
              <a:rPr lang="en-US" sz="1800" dirty="0"/>
              <a:t>', '</a:t>
            </a:r>
            <a:r>
              <a:rPr lang="en-US" sz="1800" dirty="0" err="1"/>
              <a:t>stats.reviewCount</a:t>
            </a:r>
            <a:r>
              <a:rPr lang="en-US" sz="1800" dirty="0"/>
              <a:t>', '</a:t>
            </a:r>
            <a:r>
              <a:rPr lang="en-US" sz="1800" dirty="0" err="1"/>
              <a:t>stats.rating</a:t>
            </a:r>
            <a:r>
              <a:rPr lang="en-US" sz="1800" dirty="0"/>
              <a:t>', 'stats.__</a:t>
            </a:r>
            <a:r>
              <a:rPr lang="en-US" sz="1800" dirty="0" err="1"/>
              <a:t>typename</a:t>
            </a:r>
            <a:r>
              <a:rPr lang="en-US" sz="1800" dirty="0"/>
              <a:t>', 'category.id', 'category.__</a:t>
            </a:r>
            <a:r>
              <a:rPr lang="en-US" sz="1800" dirty="0" err="1"/>
              <a:t>typename</a:t>
            </a:r>
            <a:r>
              <a:rPr lang="en-US" sz="1800" dirty="0"/>
              <a:t>']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A6E441-2702-119A-7F3A-29E3280E0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fields obtained from API response </a:t>
            </a:r>
          </a:p>
        </p:txBody>
      </p:sp>
    </p:spTree>
    <p:extLst>
      <p:ext uri="{BB962C8B-B14F-4D97-AF65-F5344CB8AC3E}">
        <p14:creationId xmlns:p14="http://schemas.microsoft.com/office/powerpoint/2010/main" val="3967117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329F5C8-743F-D2B3-D72B-6D0A58BB5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Queries the Tokopedia Search API to extract listings for products like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Asus </a:t>
            </a:r>
            <a:r>
              <a:rPr lang="en-US" dirty="0" err="1"/>
              <a:t>Zenbook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Shoes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Charger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use filters to refine search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specify the maximum number of results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searched products are then enriched using functions of </a:t>
            </a:r>
            <a:r>
              <a:rPr lang="en-US" dirty="0" err="1"/>
              <a:t>Tokopaedi</a:t>
            </a:r>
            <a:r>
              <a:rPr lang="en-US" dirty="0"/>
              <a:t> library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 reviews have no role in current revenue estimation, the review enrichment is not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shop IDs found are deduplicated and saved in the file shops_database.csv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202FDD-A282-2C1E-7912-48F98AC15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Tokopedia for building shop repository</a:t>
            </a:r>
          </a:p>
        </p:txBody>
      </p:sp>
    </p:spTree>
    <p:extLst>
      <p:ext uri="{BB962C8B-B14F-4D97-AF65-F5344CB8AC3E}">
        <p14:creationId xmlns:p14="http://schemas.microsoft.com/office/powerpoint/2010/main" val="2519875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DBEB1DA-6C82-F1A0-AC2B-2C73C72851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First Approach: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Uses the product listings data from the results of the </a:t>
            </a:r>
            <a:r>
              <a:rPr lang="en-US" b="1" dirty="0" err="1"/>
              <a:t>ShopProducts</a:t>
            </a:r>
            <a:r>
              <a:rPr lang="en-US" b="1" dirty="0"/>
              <a:t> </a:t>
            </a:r>
            <a:r>
              <a:rPr lang="en-US" dirty="0"/>
              <a:t>API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The API returns price and </a:t>
            </a:r>
            <a:r>
              <a:rPr lang="en-US" dirty="0" err="1"/>
              <a:t>terjual</a:t>
            </a:r>
            <a:r>
              <a:rPr lang="en-US" dirty="0"/>
              <a:t> (sold) data like: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'Rp191.890' or 'Rp191,890’ which is converted to Integer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'100+ </a:t>
            </a:r>
            <a:r>
              <a:rPr lang="en-US" dirty="0" err="1"/>
              <a:t>terjual</a:t>
            </a:r>
            <a:r>
              <a:rPr lang="en-US" dirty="0"/>
              <a:t>' or '2rb+ </a:t>
            </a:r>
            <a:r>
              <a:rPr lang="en-US" dirty="0" err="1"/>
              <a:t>terjual</a:t>
            </a:r>
            <a:r>
              <a:rPr lang="en-US" dirty="0"/>
              <a:t>’ which is also converted to Integer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The price and </a:t>
            </a:r>
            <a:r>
              <a:rPr lang="en-US" dirty="0" err="1"/>
              <a:t>terjual</a:t>
            </a:r>
            <a:r>
              <a:rPr lang="en-US" dirty="0"/>
              <a:t> values are multiplied and summed for all products in the shop to get the revenue estimate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Saved as </a:t>
            </a:r>
            <a:r>
              <a:rPr lang="en-US" dirty="0" err="1"/>
              <a:t>turnover_estimate</a:t>
            </a:r>
            <a:r>
              <a:rPr lang="en-US" dirty="0"/>
              <a:t> in the shops_database.csv 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Second Approach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The product URL of each product is used to call the </a:t>
            </a:r>
            <a:r>
              <a:rPr lang="en-US" dirty="0" err="1"/>
              <a:t>get_product</a:t>
            </a:r>
            <a:r>
              <a:rPr lang="en-US" dirty="0"/>
              <a:t> function of the </a:t>
            </a:r>
            <a:r>
              <a:rPr lang="en-US" dirty="0" err="1"/>
              <a:t>Tokopaedi</a:t>
            </a:r>
            <a:r>
              <a:rPr lang="en-US" dirty="0"/>
              <a:t> library which returns the price and the exact number of products sold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The price and exact sold count values are multiplied and summed for all the products of the shop to estimate the revenue more precisely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Saved as turnover in the shops_database.csv file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9388EF-6772-ADF5-4CCD-FE297FF6D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Revenue Estimation</a:t>
            </a:r>
          </a:p>
        </p:txBody>
      </p:sp>
    </p:spTree>
    <p:extLst>
      <p:ext uri="{BB962C8B-B14F-4D97-AF65-F5344CB8AC3E}">
        <p14:creationId xmlns:p14="http://schemas.microsoft.com/office/powerpoint/2010/main" val="4071812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827A84-9210-67B7-289B-E4118D8DA3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4C6E971-8BB4-0E1D-818B-4845590BD1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097851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</TotalTime>
  <Words>1181</Words>
  <Application>Microsoft Office PowerPoint</Application>
  <PresentationFormat>On-screen Show (16:9)</PresentationFormat>
  <Paragraphs>95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Calibri</vt:lpstr>
      <vt:lpstr>Arial</vt:lpstr>
      <vt:lpstr>Open Sans</vt:lpstr>
      <vt:lpstr>IBM Plex Mono</vt:lpstr>
      <vt:lpstr>Poppins</vt:lpstr>
      <vt:lpstr>Roboto Condensed Light</vt:lpstr>
      <vt:lpstr>Introduction to Coding Workshop by Slidesgo</vt:lpstr>
      <vt:lpstr>E-Commerce Data Extraction and Automation Workshop</vt:lpstr>
      <vt:lpstr>Agenda</vt:lpstr>
      <vt:lpstr>WARNING!</vt:lpstr>
      <vt:lpstr>GitHub link</vt:lpstr>
      <vt:lpstr>Source Repositories</vt:lpstr>
      <vt:lpstr>Use of GraphQL API endpoints</vt:lpstr>
      <vt:lpstr>Use of GraphQL API endpoints</vt:lpstr>
      <vt:lpstr>Random ‘fingerprint’ use</vt:lpstr>
      <vt:lpstr>Use of GraphQL API endpoints</vt:lpstr>
      <vt:lpstr>Data fields obtained from API response </vt:lpstr>
      <vt:lpstr>Data fields obtained from API response </vt:lpstr>
      <vt:lpstr>Searching Tokopedia for building shop repository</vt:lpstr>
      <vt:lpstr>Revenue Estimation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Arindam Misra</dc:creator>
  <cp:lastModifiedBy>Arindam Misra</cp:lastModifiedBy>
  <cp:revision>57</cp:revision>
  <dcterms:modified xsi:type="dcterms:W3CDTF">2025-11-05T22:59:48Z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1bf45b6-5649-4236-82a3-f45024cd282e_Enabled">
    <vt:lpwstr>true</vt:lpwstr>
  </property>
  <property fmtid="{D5CDD505-2E9C-101B-9397-08002B2CF9AE}" pid="3" name="MSIP_Label_f1bf45b6-5649-4236-82a3-f45024cd282e_SetDate">
    <vt:lpwstr>2025-11-03T06:36:31Z</vt:lpwstr>
  </property>
  <property fmtid="{D5CDD505-2E9C-101B-9397-08002B2CF9AE}" pid="4" name="MSIP_Label_f1bf45b6-5649-4236-82a3-f45024cd282e_Method">
    <vt:lpwstr>Standard</vt:lpwstr>
  </property>
  <property fmtid="{D5CDD505-2E9C-101B-9397-08002B2CF9AE}" pid="5" name="MSIP_Label_f1bf45b6-5649-4236-82a3-f45024cd282e_Name">
    <vt:lpwstr>Official Use Only</vt:lpwstr>
  </property>
  <property fmtid="{D5CDD505-2E9C-101B-9397-08002B2CF9AE}" pid="6" name="MSIP_Label_f1bf45b6-5649-4236-82a3-f45024cd282e_SiteId">
    <vt:lpwstr>31a2fec0-266b-4c67-b56e-2796d8f59c36</vt:lpwstr>
  </property>
  <property fmtid="{D5CDD505-2E9C-101B-9397-08002B2CF9AE}" pid="7" name="MSIP_Label_f1bf45b6-5649-4236-82a3-f45024cd282e_ActionId">
    <vt:lpwstr>2c190e82-00c1-44d0-a8bd-278f41dbf863</vt:lpwstr>
  </property>
  <property fmtid="{D5CDD505-2E9C-101B-9397-08002B2CF9AE}" pid="8" name="MSIP_Label_f1bf45b6-5649-4236-82a3-f45024cd282e_ContentBits">
    <vt:lpwstr>2</vt:lpwstr>
  </property>
  <property fmtid="{D5CDD505-2E9C-101B-9397-08002B2CF9AE}" pid="9" name="MSIP_Label_f1bf45b6-5649-4236-82a3-f45024cd282e_Tag">
    <vt:lpwstr>10, 3, 0, 1</vt:lpwstr>
  </property>
  <property fmtid="{D5CDD505-2E9C-101B-9397-08002B2CF9AE}" pid="10" name="ClassificationContentMarkingFooterLocations">
    <vt:lpwstr>Introduction to Coding Workshop by Slidesgo:3\Slidesgo Final Pages:3</vt:lpwstr>
  </property>
  <property fmtid="{D5CDD505-2E9C-101B-9397-08002B2CF9AE}" pid="11" name="ClassificationContentMarkingFooterText">
    <vt:lpwstr>Official Use Only</vt:lpwstr>
  </property>
</Properties>
</file>